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2" r:id="rId6"/>
    <p:sldId id="264" r:id="rId7"/>
    <p:sldId id="263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8" d="100"/>
          <a:sy n="58" d="100"/>
        </p:scale>
        <p:origin x="988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0CC947-FF7A-C52C-9B1C-6DABAD0D554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2AE3463-64BA-718F-622C-3FE9C757781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08C762-A125-81AE-110F-B128DE5E05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1856C3-9783-4DAA-AAA8-6BECA5C3EBB0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D0DFBC-D15F-018D-8F65-25EE72219A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6BC0FD-A304-DFDD-D65A-285EF38553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B0D263-4C29-4637-BC68-CD32724EF6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50571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121D6F-1E08-4A83-70D7-B063EEC142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8A47CC-CF84-8C75-1715-B6178D0A0C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FBD6FA-F0E4-38BF-62BF-2A20E7598C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1856C3-9783-4DAA-AAA8-6BECA5C3EBB0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51839F-0780-545D-7522-2C17C30FE4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5DF2CC-D510-AA2F-2E5C-3E86B0B04D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B0D263-4C29-4637-BC68-CD32724EF6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29239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8CC2B8-7AFB-2EA2-E156-BC05131D2C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8EC674-FCC0-2757-41B8-60D7E5749A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D245F7-276A-852A-425B-860F57EB0A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1856C3-9783-4DAA-AAA8-6BECA5C3EBB0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440A59-1428-D6C6-A978-C0ED3F5C67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AB74E0-9828-B238-05EF-A28E34B490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B0D263-4C29-4637-BC68-CD32724EF6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49574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63E76A-C825-F086-8BBE-AC198C84B2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92DB6D-1566-4CA7-C896-040BB1F5763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DA81B9B-F3E5-EEA1-884F-663C384408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899E9C-DFAE-6808-5840-31D7E7B397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1856C3-9783-4DAA-AAA8-6BECA5C3EBB0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CF31663-4F73-8DCD-2FBC-3222712483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116C19-D61F-8E2A-58A1-23FA00D4BA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B0D263-4C29-4637-BC68-CD32724EF6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59612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E3A3D7-52A3-5D02-957A-95564CD039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ACD907-ED1E-D726-9BEE-0A6E8DA9EC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2563D02-1240-EF0D-F22C-5DEA1B8A27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64EDF66-24C6-0260-4CDB-944CA363BEE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B49EB64-C1C4-FF1D-F56E-54403B05A88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EB176C7-4010-414E-58C4-4ADDAB5E0A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1856C3-9783-4DAA-AAA8-6BECA5C3EBB0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C8CA058-12ED-DB09-35E1-B8BD528BEB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DE64EB-3E07-4505-601F-27D0F440C9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B0D263-4C29-4637-BC68-CD32724EF6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27112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47F21D-B7A1-3C66-8589-9EFCE937FE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7C9BD82-9771-C11B-1FA1-C7C086ACEB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1856C3-9783-4DAA-AAA8-6BECA5C3EBB0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E95CB96-3474-6830-0E10-74041929FA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F40323-B442-13B5-ED13-AC44D0D52D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B0D263-4C29-4637-BC68-CD32724EF6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16497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CFFF114-90E7-289C-D3F6-AA9DD6CAAE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1856C3-9783-4DAA-AAA8-6BECA5C3EBB0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BA88220-2634-1DAF-D05A-7C357AF508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E5A693-DAEB-B924-581B-CB88B6291A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B0D263-4C29-4637-BC68-CD32724EF6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80076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7562A6-3275-831F-DFF0-C025FA0747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66C39F-C983-A9A2-64DE-708182ED93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35AAB3-C863-14F6-48A2-4B695B223E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2E240C-68A8-3F91-0F33-AED70678C7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1856C3-9783-4DAA-AAA8-6BECA5C3EBB0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BD444E-5D09-0B8C-548A-62BD02FDA7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0EFDB6-3933-8B86-2AC0-30B17E8931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B0D263-4C29-4637-BC68-CD32724EF6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04483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C1C838-1839-9FAD-65A5-115B0C1D61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24FAE98-6B73-1307-CA96-24191D5C884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41057CA-C7F1-9B8C-7713-48C49A4A99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DCC051-718C-F8DE-2DEF-42B3C944E1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1856C3-9783-4DAA-AAA8-6BECA5C3EBB0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1325248-91BA-B2F2-3E7E-1393FC019D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0670A9-481A-6D47-C905-4DA55BC379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B0D263-4C29-4637-BC68-CD32724EF6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48130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BA250A-9C2C-38EB-0AF5-7938A030E3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C9F206C-059C-7E22-6200-4FE72684EA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AE4D9F-15F4-ECE9-2729-6B87F1639C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1856C3-9783-4DAA-AAA8-6BECA5C3EBB0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18E772-33FF-D664-CC0F-03652DB66E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89E064-E000-69A3-6445-6EA28BA1DD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B0D263-4C29-4637-BC68-CD32724EF6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92243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DE6A4F2-1C1D-49D9-7176-695F975924D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67E2F0C-2596-AEE2-2C15-5305B4E4C5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7E55CB-2414-382F-6223-D4CF8977C0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1856C3-9783-4DAA-AAA8-6BECA5C3EBB0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0A4522-E113-535D-C13D-E0DA4CE51F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C6EBE4-8013-D6D9-96C3-B80E4FB59E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B0D263-4C29-4637-BC68-CD32724EF6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79458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41FB399-F594-D9EA-CDF3-6AC842A8E5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78A01A-3C49-842E-B698-C971D9E275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D15CC5-F1D6-3E1F-708D-A251D08EE40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41856C3-9783-4DAA-AAA8-6BECA5C3EBB0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24163F-CB41-BF5F-FA18-0360218570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DD7F67-9E70-EB39-FDB5-7CD01E2226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6B0D263-4C29-4637-BC68-CD32724EF6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15914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5.png"/><Relationship Id="rId18" Type="http://schemas.openxmlformats.org/officeDocument/2006/relationships/image" Target="../media/image20.png"/><Relationship Id="rId26" Type="http://schemas.openxmlformats.org/officeDocument/2006/relationships/image" Target="../media/image28.png"/><Relationship Id="rId3" Type="http://schemas.openxmlformats.org/officeDocument/2006/relationships/image" Target="../media/image5.png"/><Relationship Id="rId21" Type="http://schemas.openxmlformats.org/officeDocument/2006/relationships/image" Target="../media/image23.png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17" Type="http://schemas.openxmlformats.org/officeDocument/2006/relationships/image" Target="../media/image19.png"/><Relationship Id="rId25" Type="http://schemas.openxmlformats.org/officeDocument/2006/relationships/image" Target="../media/image27.png"/><Relationship Id="rId2" Type="http://schemas.openxmlformats.org/officeDocument/2006/relationships/image" Target="../media/image4.png"/><Relationship Id="rId16" Type="http://schemas.openxmlformats.org/officeDocument/2006/relationships/image" Target="../media/image18.png"/><Relationship Id="rId20" Type="http://schemas.openxmlformats.org/officeDocument/2006/relationships/image" Target="../media/image22.png"/><Relationship Id="rId29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24" Type="http://schemas.openxmlformats.org/officeDocument/2006/relationships/image" Target="../media/image26.png"/><Relationship Id="rId5" Type="http://schemas.openxmlformats.org/officeDocument/2006/relationships/image" Target="../media/image7.png"/><Relationship Id="rId15" Type="http://schemas.openxmlformats.org/officeDocument/2006/relationships/image" Target="../media/image17.png"/><Relationship Id="rId23" Type="http://schemas.openxmlformats.org/officeDocument/2006/relationships/image" Target="../media/image25.png"/><Relationship Id="rId28" Type="http://schemas.openxmlformats.org/officeDocument/2006/relationships/image" Target="../media/image30.png"/><Relationship Id="rId10" Type="http://schemas.openxmlformats.org/officeDocument/2006/relationships/image" Target="../media/image12.png"/><Relationship Id="rId19" Type="http://schemas.openxmlformats.org/officeDocument/2006/relationships/image" Target="../media/image21.png"/><Relationship Id="rId4" Type="http://schemas.openxmlformats.org/officeDocument/2006/relationships/image" Target="../media/image6.png"/><Relationship Id="rId9" Type="http://schemas.openxmlformats.org/officeDocument/2006/relationships/image" Target="../media/image11.png"/><Relationship Id="rId14" Type="http://schemas.openxmlformats.org/officeDocument/2006/relationships/image" Target="../media/image16.png"/><Relationship Id="rId22" Type="http://schemas.openxmlformats.org/officeDocument/2006/relationships/image" Target="../media/image24.png"/><Relationship Id="rId27" Type="http://schemas.openxmlformats.org/officeDocument/2006/relationships/image" Target="../media/image29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B56923C-8C64-C8CB-B5CE-FFD76FA7C938}"/>
              </a:ext>
            </a:extLst>
          </p:cNvPr>
          <p:cNvSpPr txBox="1"/>
          <p:nvPr/>
        </p:nvSpPr>
        <p:spPr>
          <a:xfrm>
            <a:off x="838200" y="1348798"/>
            <a:ext cx="4812145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Previous Topic: FB-MF</a:t>
            </a:r>
          </a:p>
          <a:p>
            <a:endParaRPr lang="en-US" b="1" dirty="0"/>
          </a:p>
          <a:p>
            <a:pPr marL="342900" indent="-342900">
              <a:buFont typeface="+mj-lt"/>
              <a:buAutoNum type="arabicPeriod"/>
            </a:pPr>
            <a:r>
              <a:rPr lang="en-US" b="1" dirty="0"/>
              <a:t>Stands for:</a:t>
            </a:r>
            <a:r>
              <a:rPr lang="en-US" dirty="0"/>
              <a:t> "Financial Bias Matrix Factorization"</a:t>
            </a:r>
          </a:p>
          <a:p>
            <a:pPr marL="342900" indent="-342900">
              <a:buFont typeface="+mj-lt"/>
              <a:buAutoNum type="arabicPeriod"/>
            </a:pPr>
            <a:r>
              <a:rPr lang="en-US" b="1" dirty="0"/>
              <a:t>Application:</a:t>
            </a:r>
            <a:r>
              <a:rPr lang="en-US" dirty="0"/>
              <a:t> Limited to financial product recommendations (e.g., stocks, mutual funds).</a:t>
            </a:r>
          </a:p>
          <a:p>
            <a:pPr marL="342900" indent="-342900">
              <a:buFont typeface="+mj-lt"/>
              <a:buAutoNum type="arabicPeriod"/>
            </a:pPr>
            <a:r>
              <a:rPr lang="en-US" b="1" dirty="0"/>
              <a:t>Evaluation:</a:t>
            </a:r>
            <a:r>
              <a:rPr lang="en-US" dirty="0"/>
              <a:t> Limited bias evaluation (only one dataset available).</a:t>
            </a:r>
          </a:p>
          <a:p>
            <a:pPr marL="342900" indent="-342900">
              <a:buFont typeface="+mj-lt"/>
              <a:buAutoNum type="arabicPeriod"/>
            </a:pPr>
            <a:r>
              <a:rPr lang="en-US" b="1" dirty="0"/>
              <a:t>Focus:</a:t>
            </a:r>
            <a:r>
              <a:rPr lang="en-US" dirty="0"/>
              <a:t> Primarily financial rather than computer science or machine learning.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117DD8D-FB74-91B3-8DB7-1CED8D3CD528}"/>
              </a:ext>
            </a:extLst>
          </p:cNvPr>
          <p:cNvSpPr txBox="1"/>
          <p:nvPr/>
        </p:nvSpPr>
        <p:spPr>
          <a:xfrm>
            <a:off x="6326909" y="1348798"/>
            <a:ext cx="525780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New Topic: CARMS-MF</a:t>
            </a:r>
          </a:p>
          <a:p>
            <a:endParaRPr lang="en-US" b="1" dirty="0"/>
          </a:p>
          <a:p>
            <a:pPr marL="342900" indent="-342900">
              <a:buFont typeface="+mj-lt"/>
              <a:buAutoNum type="arabicPeriod"/>
            </a:pPr>
            <a:r>
              <a:rPr lang="en-US" b="1" dirty="0"/>
              <a:t>Stands for:</a:t>
            </a:r>
            <a:r>
              <a:rPr lang="en-US" dirty="0"/>
              <a:t> "Clustering Association Rule Mining Signal Matrix Factorization"</a:t>
            </a:r>
          </a:p>
          <a:p>
            <a:pPr marL="342900" indent="-342900">
              <a:buFont typeface="+mj-lt"/>
              <a:buAutoNum type="arabicPeriod"/>
            </a:pPr>
            <a:r>
              <a:rPr lang="en-US" b="1" dirty="0"/>
              <a:t>Application:</a:t>
            </a:r>
            <a:r>
              <a:rPr lang="en-US" dirty="0"/>
              <a:t> Generalizable; can be applied to any dataset.</a:t>
            </a:r>
          </a:p>
          <a:p>
            <a:pPr marL="342900" indent="-342900">
              <a:buFont typeface="+mj-lt"/>
              <a:buAutoNum type="arabicPeriod"/>
            </a:pPr>
            <a:r>
              <a:rPr lang="en-US" b="1" dirty="0"/>
              <a:t>Evaluation:</a:t>
            </a:r>
            <a:r>
              <a:rPr lang="en-US" dirty="0"/>
              <a:t> More robust; designed for testing on multiple datasets across various domains (e.g., movies, music, online shopping).</a:t>
            </a:r>
          </a:p>
          <a:p>
            <a:pPr marL="342900" indent="-342900">
              <a:buFont typeface="+mj-lt"/>
              <a:buAutoNum type="arabicPeriod"/>
            </a:pPr>
            <a:r>
              <a:rPr lang="en-US" b="1" dirty="0"/>
              <a:t>Focus:</a:t>
            </a:r>
            <a:r>
              <a:rPr lang="en-US" dirty="0"/>
              <a:t> Computer science or machine learning.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9200D47-CD72-062C-D3F6-23D34DCD6939}"/>
              </a:ext>
            </a:extLst>
          </p:cNvPr>
          <p:cNvCxnSpPr/>
          <p:nvPr/>
        </p:nvCxnSpPr>
        <p:spPr>
          <a:xfrm>
            <a:off x="838200" y="1047750"/>
            <a:ext cx="9972675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378F6C0A-53FD-25BB-08E9-94E735CD40E0}"/>
              </a:ext>
            </a:extLst>
          </p:cNvPr>
          <p:cNvCxnSpPr/>
          <p:nvPr/>
        </p:nvCxnSpPr>
        <p:spPr>
          <a:xfrm>
            <a:off x="6000750" y="1514475"/>
            <a:ext cx="0" cy="499110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6" name="Title 1">
            <a:extLst>
              <a:ext uri="{FF2B5EF4-FFF2-40B4-BE49-F238E27FC236}">
                <a16:creationId xmlns:a16="http://schemas.microsoft.com/office/drawing/2014/main" id="{A496D17E-0B9D-7D27-80B8-1FD66894E2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43190"/>
            <a:ext cx="10515600" cy="632402"/>
          </a:xfrm>
        </p:spPr>
        <p:txBody>
          <a:bodyPr>
            <a:normAutofit/>
          </a:bodyPr>
          <a:lstStyle/>
          <a:p>
            <a:r>
              <a:rPr lang="en-US" sz="3200" dirty="0"/>
              <a:t>Reason for Topic Changing</a:t>
            </a:r>
          </a:p>
        </p:txBody>
      </p:sp>
    </p:spTree>
    <p:extLst>
      <p:ext uri="{BB962C8B-B14F-4D97-AF65-F5344CB8AC3E}">
        <p14:creationId xmlns:p14="http://schemas.microsoft.com/office/powerpoint/2010/main" val="13792851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>
            <a:extLst>
              <a:ext uri="{FF2B5EF4-FFF2-40B4-BE49-F238E27FC236}">
                <a16:creationId xmlns:a16="http://schemas.microsoft.com/office/drawing/2014/main" id="{4AE64214-192C-3E17-D02D-B39A6A90CCAB}"/>
              </a:ext>
            </a:extLst>
          </p:cNvPr>
          <p:cNvSpPr txBox="1"/>
          <p:nvPr/>
        </p:nvSpPr>
        <p:spPr>
          <a:xfrm>
            <a:off x="838200" y="1348798"/>
            <a:ext cx="9801225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000" b="1" dirty="0"/>
              <a:t>Accuracy:</a:t>
            </a:r>
            <a:r>
              <a:rPr lang="en-US" sz="2000" dirty="0"/>
              <a:t> Constant need for further accuracy improvements.</a:t>
            </a:r>
          </a:p>
          <a:p>
            <a:pPr marL="457200" indent="-457200">
              <a:buFont typeface="+mj-lt"/>
              <a:buAutoNum type="arabicPeriod"/>
            </a:pPr>
            <a:endParaRPr lang="en-US" sz="2000" dirty="0"/>
          </a:p>
          <a:p>
            <a:pPr marL="457200" indent="-457200">
              <a:buFont typeface="+mj-lt"/>
              <a:buAutoNum type="arabicPeriod"/>
            </a:pPr>
            <a:r>
              <a:rPr lang="en-US" sz="2000" b="1" dirty="0"/>
              <a:t>Cold-Start &amp; Warm-Start Problem:</a:t>
            </a:r>
            <a:r>
              <a:rPr lang="en-US" sz="2000" dirty="0"/>
              <a:t> Persistent challenge with new users </a:t>
            </a:r>
            <a:r>
              <a:rPr lang="en-US" sz="2000" dirty="0">
                <a:solidFill>
                  <a:schemeClr val="accent1"/>
                </a:solidFill>
              </a:rPr>
              <a:t>[</a:t>
            </a:r>
            <a:r>
              <a:rPr lang="en-US" sz="2000" dirty="0" err="1">
                <a:solidFill>
                  <a:schemeClr val="accent1"/>
                </a:solidFill>
              </a:rPr>
              <a:t>Polohakil</a:t>
            </a:r>
            <a:r>
              <a:rPr lang="en-US" sz="2000" dirty="0">
                <a:solidFill>
                  <a:schemeClr val="accent1"/>
                </a:solidFill>
              </a:rPr>
              <a:t> et al., 2016].</a:t>
            </a:r>
          </a:p>
          <a:p>
            <a:pPr marL="457200" indent="-457200">
              <a:buFont typeface="+mj-lt"/>
              <a:buAutoNum type="arabicPeriod"/>
            </a:pPr>
            <a:endParaRPr lang="en-US" sz="2000" dirty="0"/>
          </a:p>
          <a:p>
            <a:pPr marL="457200" indent="-457200">
              <a:buFont typeface="+mj-lt"/>
              <a:buAutoNum type="arabicPeriod"/>
            </a:pPr>
            <a:r>
              <a:rPr lang="en-US" sz="2000" b="1" dirty="0"/>
              <a:t>Metadata Dependency:</a:t>
            </a:r>
            <a:r>
              <a:rPr lang="en-US" sz="2000" dirty="0"/>
              <a:t> Many hybrid algorithms depend on user or item metadata, which is often unavailable or difficult to acquire </a:t>
            </a:r>
            <a:r>
              <a:rPr lang="en-US" sz="2000" dirty="0">
                <a:solidFill>
                  <a:schemeClr val="accent1"/>
                </a:solidFill>
              </a:rPr>
              <a:t>[</a:t>
            </a:r>
            <a:r>
              <a:rPr lang="en-US" sz="2000" dirty="0" err="1">
                <a:solidFill>
                  <a:schemeClr val="accent1"/>
                </a:solidFill>
              </a:rPr>
              <a:t>Alsalama</a:t>
            </a:r>
            <a:r>
              <a:rPr lang="en-US" sz="2000" dirty="0">
                <a:solidFill>
                  <a:schemeClr val="accent1"/>
                </a:solidFill>
              </a:rPr>
              <a:t>, 2013, </a:t>
            </a:r>
            <a:r>
              <a:rPr lang="en-US" sz="2000" dirty="0" err="1">
                <a:solidFill>
                  <a:schemeClr val="accent1"/>
                </a:solidFill>
              </a:rPr>
              <a:t>Polohakil</a:t>
            </a:r>
            <a:r>
              <a:rPr lang="en-US" sz="2000" dirty="0">
                <a:solidFill>
                  <a:schemeClr val="accent1"/>
                </a:solidFill>
              </a:rPr>
              <a:t> et al., 2016].</a:t>
            </a: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487BDAFF-406F-7130-5B7A-4F9DD2A868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43190"/>
            <a:ext cx="10515600" cy="632402"/>
          </a:xfrm>
        </p:spPr>
        <p:txBody>
          <a:bodyPr>
            <a:normAutofit fontScale="90000"/>
          </a:bodyPr>
          <a:lstStyle/>
          <a:p>
            <a:r>
              <a:rPr lang="en-US" sz="3600" dirty="0"/>
              <a:t>Recommendation Systems (</a:t>
            </a:r>
            <a:r>
              <a:rPr lang="en-US" sz="3600" dirty="0" err="1"/>
              <a:t>RecSys</a:t>
            </a:r>
            <a:r>
              <a:rPr lang="en-US" sz="3600" dirty="0"/>
              <a:t>): Identifying the Gaps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728FCBCA-3EDB-9CB6-D82F-99078834348E}"/>
              </a:ext>
            </a:extLst>
          </p:cNvPr>
          <p:cNvCxnSpPr/>
          <p:nvPr/>
        </p:nvCxnSpPr>
        <p:spPr>
          <a:xfrm>
            <a:off x="838200" y="1047750"/>
            <a:ext cx="9972675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380921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A96A50-8D78-3217-78A8-B632906E71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3CDD51B0-0BF3-7245-4E6B-AD02F676D5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43190"/>
            <a:ext cx="10515600" cy="632402"/>
          </a:xfrm>
        </p:spPr>
        <p:txBody>
          <a:bodyPr>
            <a:normAutofit/>
          </a:bodyPr>
          <a:lstStyle/>
          <a:p>
            <a:r>
              <a:rPr lang="en-US" sz="3200" dirty="0"/>
              <a:t>Our Proposal: CARMS-MF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741BFF9-1C14-7742-7969-A345915A9A1F}"/>
              </a:ext>
            </a:extLst>
          </p:cNvPr>
          <p:cNvCxnSpPr/>
          <p:nvPr/>
        </p:nvCxnSpPr>
        <p:spPr>
          <a:xfrm>
            <a:off x="838200" y="1047750"/>
            <a:ext cx="9972675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53F36EAE-7517-BACA-0E3F-741BD6F5F700}"/>
                  </a:ext>
                </a:extLst>
              </p:cNvPr>
              <p:cNvSpPr txBox="1"/>
              <p:nvPr/>
            </p:nvSpPr>
            <p:spPr>
              <a:xfrm>
                <a:off x="838200" y="1348798"/>
                <a:ext cx="4812145" cy="510909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b="1" dirty="0"/>
                  <a:t>Signal Stage</a:t>
                </a:r>
              </a:p>
              <a:p>
                <a:endParaRPr lang="en-US" b="1" dirty="0"/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US" sz="1600" b="1" dirty="0"/>
                  <a:t>Association Rule Mining (ARM):</a:t>
                </a:r>
                <a:r>
                  <a:rPr lang="en-US" sz="1600" dirty="0"/>
                  <a:t> Use ARM (e.g., </a:t>
                </a:r>
                <a:r>
                  <a:rPr lang="en-US" sz="1600" dirty="0" err="1"/>
                  <a:t>Apriori</a:t>
                </a:r>
                <a:r>
                  <a:rPr lang="en-US" sz="1600" dirty="0"/>
                  <a:t>, FP-growth) to generate signals for next-item prediction </a:t>
                </a:r>
                <a:r>
                  <a:rPr lang="en-US" sz="1600" dirty="0">
                    <a:solidFill>
                      <a:schemeClr val="accent1"/>
                    </a:solidFill>
                  </a:rPr>
                  <a:t>[</a:t>
                </a:r>
                <a:r>
                  <a:rPr lang="en-US" sz="1600" dirty="0" err="1">
                    <a:solidFill>
                      <a:schemeClr val="accent1"/>
                    </a:solidFill>
                  </a:rPr>
                  <a:t>Alsalama</a:t>
                </a:r>
                <a:r>
                  <a:rPr lang="en-US" sz="1600" dirty="0">
                    <a:solidFill>
                      <a:schemeClr val="accent1"/>
                    </a:solidFill>
                  </a:rPr>
                  <a:t>, 2013, </a:t>
                </a:r>
                <a:r>
                  <a:rPr lang="da-DK" sz="1600" dirty="0">
                    <a:solidFill>
                      <a:schemeClr val="accent1"/>
                    </a:solidFill>
                  </a:rPr>
                  <a:t>Liang et al., 2016</a:t>
                </a:r>
                <a:r>
                  <a:rPr lang="en-US" sz="1600" dirty="0">
                    <a:solidFill>
                      <a:schemeClr val="accent1"/>
                    </a:solidFill>
                  </a:rPr>
                  <a:t>].</a:t>
                </a:r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:r>
                  <a:rPr lang="en-US" sz="1400" i="1" dirty="0"/>
                  <a:t>{LotR1, LotR2} → {LotR3}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US" sz="1600" b="1" dirty="0"/>
                  <a:t>Clustering:</a:t>
                </a:r>
                <a:r>
                  <a:rPr lang="en-US" sz="1600" dirty="0"/>
                  <a:t> Before ARM, cluster the user-item matrix to identify user groups </a:t>
                </a:r>
                <a:r>
                  <a:rPr lang="en-US" sz="1600" dirty="0">
                    <a:solidFill>
                      <a:schemeClr val="accent1"/>
                    </a:solidFill>
                  </a:rPr>
                  <a:t>[</a:t>
                </a:r>
                <a:r>
                  <a:rPr lang="en-US" sz="1600" dirty="0" err="1">
                    <a:solidFill>
                      <a:schemeClr val="accent1"/>
                    </a:solidFill>
                  </a:rPr>
                  <a:t>Mirbakhsh</a:t>
                </a:r>
                <a:r>
                  <a:rPr lang="en-US" sz="1600" dirty="0">
                    <a:solidFill>
                      <a:schemeClr val="accent1"/>
                    </a:solidFill>
                  </a:rPr>
                  <a:t> &amp; Ling, 2016].</a:t>
                </a:r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:r>
                  <a:rPr lang="en-US" sz="1400" i="1" dirty="0"/>
                  <a:t>user_group1, user_group2</a:t>
                </a:r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:r>
                  <a:rPr lang="en-US" sz="1400" i="1" dirty="0"/>
                  <a:t>item_group1, item_group2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US" sz="1600" b="1" dirty="0"/>
                  <a:t>Transaction Modification: </a:t>
                </a:r>
                <a:r>
                  <a:rPr lang="en-US" sz="1600" dirty="0"/>
                  <a:t>Augment user transactions with cluster IDs to create richer, more generalizable rules.</a:t>
                </a:r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:r>
                  <a:rPr lang="en-US" sz="1400" dirty="0"/>
                  <a:t>{</a:t>
                </a:r>
                <a:r>
                  <a:rPr lang="en-US" sz="1400" dirty="0" err="1"/>
                  <a:t>LotR</a:t>
                </a:r>
                <a:r>
                  <a:rPr lang="en-US" sz="1400" dirty="0"/>
                  <a:t> 1, </a:t>
                </a:r>
                <a:r>
                  <a:rPr lang="en-US" sz="1400" dirty="0" err="1"/>
                  <a:t>LotR</a:t>
                </a:r>
                <a:r>
                  <a:rPr lang="en-US" sz="1400" dirty="0"/>
                  <a:t> 2} → {</a:t>
                </a:r>
                <a:r>
                  <a:rPr lang="en-US" sz="1400" dirty="0" err="1"/>
                  <a:t>LotR</a:t>
                </a:r>
                <a:r>
                  <a:rPr lang="en-US" sz="1400" dirty="0"/>
                  <a:t> 3, item_group2}</a:t>
                </a:r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:r>
                  <a:rPr lang="en-US" sz="1400" dirty="0"/>
                  <a:t>{user_group1} → {</a:t>
                </a:r>
                <a:r>
                  <a:rPr lang="en-US" sz="1400" dirty="0" err="1"/>
                  <a:t>LotR</a:t>
                </a:r>
                <a:r>
                  <a:rPr lang="en-US" sz="1400" dirty="0"/>
                  <a:t> 1}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US" sz="1600" b="1" dirty="0"/>
                  <a:t>Signal Matrix:</a:t>
                </a:r>
                <a:r>
                  <a:rPr lang="en-US" sz="1600" dirty="0"/>
                  <a:t> Combine all matched rules to create a consolidated signal matrix M for each user.</a:t>
                </a:r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𝑢</m:t>
                        </m:r>
                      </m:sub>
                    </m:sSub>
                  </m:oMath>
                </a14:m>
                <a:r>
                  <a:rPr lang="en-US" sz="1400" dirty="0"/>
                  <a:t> = [0, 1, 0.5]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53F36EAE-7517-BACA-0E3F-741BD6F5F7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348798"/>
                <a:ext cx="4812145" cy="5109091"/>
              </a:xfrm>
              <a:prstGeom prst="rect">
                <a:avLst/>
              </a:prstGeom>
              <a:blipFill>
                <a:blip r:embed="rId2"/>
                <a:stretch>
                  <a:fillRect l="-1141" t="-477" b="-9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108C423B-684B-6F5F-31C1-F260C221B52F}"/>
                  </a:ext>
                </a:extLst>
              </p:cNvPr>
              <p:cNvSpPr txBox="1"/>
              <p:nvPr/>
            </p:nvSpPr>
            <p:spPr>
              <a:xfrm>
                <a:off x="6326909" y="1348798"/>
                <a:ext cx="5257800" cy="464742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b="1" dirty="0"/>
                  <a:t>Matrix Factorization Stage</a:t>
                </a:r>
              </a:p>
              <a:p>
                <a:pPr marL="514350" indent="-514350">
                  <a:buFont typeface="+mj-lt"/>
                  <a:buAutoNum type="arabicPeriod"/>
                </a:pPr>
                <a:endParaRPr lang="en-US" dirty="0"/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sz="1600" b="1" dirty="0"/>
                  <a:t>Loss Function:</a:t>
                </a:r>
                <a:r>
                  <a:rPr lang="en-US" sz="1600" dirty="0"/>
                  <a:t> The loss function incorporates the signal matrix M from the CARMS stage. 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sz="1600" b="1" dirty="0"/>
                  <a:t>Personalization Parameter:</a:t>
                </a:r>
                <a:r>
                  <a:rPr lang="en-US" sz="1600" dirty="0"/>
                  <a:t> Add a user-specific parameter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𝑢</m:t>
                        </m:r>
                      </m:sub>
                    </m:sSub>
                  </m:oMath>
                </a14:m>
                <a:r>
                  <a:rPr lang="en-US" sz="1600" dirty="0"/>
                  <a:t> to model personalized behavior (i.e., tendency to follow trends vs. unique preferences).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sz="1600" b="1" dirty="0"/>
                  <a:t>Final Prediction:</a:t>
                </a:r>
                <a:r>
                  <a:rPr lang="en-US" sz="1600" dirty="0"/>
                  <a:t> The predicted rating integrates the standard MF model with the CARMS signal:</a:t>
                </a:r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140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acc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sz="140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sub>
                      <m:sup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bSup>
                    <m:sSub>
                      <m:sSubPr>
                        <m:ctrlPr>
                          <a:rPr lang="en-US" sz="1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sz="1400" i="1" dirty="0"/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140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acc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sz="140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sub>
                      <m:sup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bSup>
                    <m:sSub>
                      <m:sSubPr>
                        <m:ctrlPr>
                          <a:rPr lang="en-US" sz="1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 + </m:t>
                    </m:r>
                    <m:sSub>
                      <m:sSubPr>
                        <m:ctrlPr>
                          <a:rPr lang="en-US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𝑢</m:t>
                        </m:r>
                      </m:sub>
                    </m:sSub>
                    <m:sSub>
                      <m:sSubPr>
                        <m:ctrlPr>
                          <a:rPr lang="en-US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𝑢𝑖</m:t>
                        </m:r>
                      </m:sub>
                    </m:sSub>
                  </m:oMath>
                </a14:m>
                <a:endParaRPr lang="en-US" sz="1400" i="1" dirty="0"/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:endParaRPr lang="en-US" sz="1400" i="1" dirty="0"/>
              </a:p>
              <a:p>
                <a:pPr lvl="1"/>
                <a:endParaRPr lang="en-US" sz="1400" i="1" dirty="0"/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:endParaRPr lang="en-US" sz="1400" i="1" dirty="0"/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sz="1600" b="1" dirty="0"/>
                  <a:t>Learnable parameters:</a:t>
                </a:r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l-GR" sz="1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𝜇</m:t>
                    </m:r>
                    <m:r>
                      <a:rPr lang="en-US" sz="1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1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𝑢</m:t>
                        </m:r>
                      </m:sub>
                    </m:sSub>
                    <m:r>
                      <a:rPr lang="en-US" sz="1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𝑢</m:t>
                        </m:r>
                      </m:sub>
                    </m:sSub>
                    <m:r>
                      <a:rPr lang="en-US" sz="1400" i="1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1400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𝑢</m:t>
                        </m:r>
                      </m:sub>
                    </m:sSub>
                  </m:oMath>
                </a14:m>
                <a:endParaRPr lang="en-US" sz="1400" i="1" dirty="0"/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sz="1600" b="1" dirty="0"/>
                  <a:t>Optimization:</a:t>
                </a:r>
                <a:r>
                  <a:rPr lang="en-US" sz="1600" dirty="0"/>
                  <a:t> Solvable using standard algorithms like Stochastic Gradient Descent (SGD) or Alternating Least Squares (ALS).</a:t>
                </a: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108C423B-684B-6F5F-31C1-F260C221B5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26909" y="1348798"/>
                <a:ext cx="5257800" cy="4647426"/>
              </a:xfrm>
              <a:prstGeom prst="rect">
                <a:avLst/>
              </a:prstGeom>
              <a:blipFill>
                <a:blip r:embed="rId3"/>
                <a:stretch>
                  <a:fillRect l="-1044" t="-524" r="-464" b="-6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4E2848E0-397C-2B1A-B345-39D30C041899}"/>
              </a:ext>
            </a:extLst>
          </p:cNvPr>
          <p:cNvCxnSpPr/>
          <p:nvPr/>
        </p:nvCxnSpPr>
        <p:spPr>
          <a:xfrm>
            <a:off x="6000750" y="1514475"/>
            <a:ext cx="0" cy="499110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46189C18-B48B-8703-D238-79424A0F9B77}"/>
                  </a:ext>
                </a:extLst>
              </p:cNvPr>
              <p:cNvSpPr txBox="1"/>
              <p:nvPr/>
            </p:nvSpPr>
            <p:spPr>
              <a:xfrm>
                <a:off x="6742794" y="4135598"/>
                <a:ext cx="4611006" cy="52174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p>
                            <m:sSup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  <m:t>r</m:t>
                                      </m:r>
                                    </m:e>
                                    <m:sub>
                                      <m:r>
                                        <m:rPr>
                                          <m:sty m:val="p"/>
                                        </m:rP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  <m:t>ui</m:t>
                                      </m:r>
                                    </m:sub>
                                  </m:sSub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−(</m:t>
                                  </m:r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𝜇</m:t>
                                  </m:r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en-US" sz="1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𝑏</m:t>
                                      </m:r>
                                    </m:e>
                                    <m:sub>
                                      <m:r>
                                        <a:rPr lang="en-US" sz="1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en-US" sz="1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𝑏</m:t>
                                      </m:r>
                                    </m:e>
                                    <m:sub>
                                      <m:r>
                                        <a:rPr lang="en-US" sz="1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𝑢</m:t>
                                      </m:r>
                                    </m:sub>
                                  </m:sSub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+</m:t>
                                  </m:r>
                                  <m:sSubSup>
                                    <m:sSubSupPr>
                                      <m:ctrlPr>
                                        <a:rPr lang="en-US" sz="1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sz="1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𝑝</m:t>
                                      </m:r>
                                    </m:e>
                                    <m:sub>
                                      <m:r>
                                        <a:rPr lang="en-US" sz="1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𝑢</m:t>
                                      </m:r>
                                    </m:sub>
                                    <m:sup>
                                      <m:r>
                                        <a:rPr lang="en-US" sz="1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𝑇</m:t>
                                      </m:r>
                                    </m:sup>
                                  </m:sSubSup>
                                  <m:sSub>
                                    <m:sSubPr>
                                      <m:ctrlPr>
                                        <a:rPr lang="en-US" sz="1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𝑞</m:t>
                                      </m:r>
                                    </m:e>
                                    <m:sub>
                                      <m:r>
                                        <a:rPr lang="en-US" sz="1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en-US" sz="1400" i="1">
                                          <a:highlight>
                                            <a:srgbClr val="00FFFF"/>
                                          </a:highlight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400" i="1">
                                          <a:highlight>
                                            <a:srgbClr val="00FFFF"/>
                                          </a:highlight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𝛼</m:t>
                                      </m:r>
                                    </m:e>
                                    <m:sub>
                                      <m:r>
                                        <m:rPr>
                                          <m:sty m:val="p"/>
                                        </m:rPr>
                                        <a:rPr lang="en-US" sz="1400" i="1">
                                          <a:highlight>
                                            <a:srgbClr val="00FFFF"/>
                                          </a:highlight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u</m:t>
                                      </m:r>
                                    </m:sub>
                                  </m:sSub>
                                  <m:r>
                                    <a:rPr lang="en-US" sz="1400" i="1">
                                      <a:highlight>
                                        <a:srgbClr val="00FFFF"/>
                                      </a:highlight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∙</m:t>
                                  </m:r>
                                  <m:sSub>
                                    <m:sSubPr>
                                      <m:ctrlPr>
                                        <a:rPr lang="en-US" sz="1400" i="1">
                                          <a:highlight>
                                            <a:srgbClr val="00FFFF"/>
                                          </a:highlight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1400" i="1">
                                          <a:highlight>
                                            <a:srgbClr val="00FFFF"/>
                                          </a:highlight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m</m:t>
                                      </m:r>
                                    </m:e>
                                    <m:sub>
                                      <m:r>
                                        <m:rPr>
                                          <m:sty m:val="p"/>
                                        </m:rPr>
                                        <a:rPr lang="en-US" sz="1400" i="1">
                                          <a:highlight>
                                            <a:srgbClr val="00FFFF"/>
                                          </a:highlight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ui</m:t>
                                      </m:r>
                                    </m:sub>
                                  </m:sSub>
                                  <m:r>
                                    <a:rPr lang="en-US" sz="1400" i="1">
                                      <a:highlight>
                                        <a:srgbClr val="00FFFF"/>
                                      </a:highlight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𝜆</m:t>
                          </m:r>
                          <m:nary>
                            <m:naryPr>
                              <m:chr m:val="∑"/>
                              <m:subHide m:val="on"/>
                              <m:supHide m:val="on"/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r>
                                <m:rPr>
                                  <m:sty m:val="p"/>
                                </m:rPr>
                                <a:rPr lang="en-US" sz="1400" i="1">
                                  <a:latin typeface="Cambria Math" panose="02040503050406030204" pitchFamily="18" charset="0"/>
                                </a:rPr>
                                <m:t>Reg</m:t>
                              </m:r>
                              <m:d>
                                <m:d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</m:d>
                            </m:e>
                          </m:nary>
                        </m:e>
                      </m:nary>
                    </m:oMath>
                  </m:oMathPara>
                </a14:m>
                <a:endParaRPr lang="en-US" sz="1400" i="1" dirty="0">
                  <a:highlight>
                    <a:srgbClr val="00FFFF"/>
                  </a:highlight>
                </a:endParaRP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46189C18-B48B-8703-D238-79424A0F9B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42794" y="4135598"/>
                <a:ext cx="4611006" cy="521746"/>
              </a:xfrm>
              <a:prstGeom prst="rect">
                <a:avLst/>
              </a:prstGeom>
              <a:blipFill>
                <a:blip r:embed="rId4"/>
                <a:stretch>
                  <a:fillRect l="-12153" t="-144186" r="-13871" b="-2046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290137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E76ABF-76AD-17F8-9EAC-53DA5024B9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202FE6BD-4C11-84C4-BECC-95E69F0161F3}"/>
              </a:ext>
            </a:extLst>
          </p:cNvPr>
          <p:cNvCxnSpPr/>
          <p:nvPr/>
        </p:nvCxnSpPr>
        <p:spPr>
          <a:xfrm>
            <a:off x="6000750" y="1514475"/>
            <a:ext cx="0" cy="499110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" name="Title 1">
            <a:extLst>
              <a:ext uri="{FF2B5EF4-FFF2-40B4-BE49-F238E27FC236}">
                <a16:creationId xmlns:a16="http://schemas.microsoft.com/office/drawing/2014/main" id="{97EC6256-D0FB-32BA-AEB3-B8611C972AE8}"/>
              </a:ext>
            </a:extLst>
          </p:cNvPr>
          <p:cNvSpPr txBox="1">
            <a:spLocks/>
          </p:cNvSpPr>
          <p:nvPr/>
        </p:nvSpPr>
        <p:spPr>
          <a:xfrm>
            <a:off x="838200" y="307688"/>
            <a:ext cx="10515600" cy="6324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dirty="0"/>
              <a:t>Related Work: Hybrid </a:t>
            </a:r>
            <a:r>
              <a:rPr lang="en-US" sz="3200" dirty="0" err="1"/>
              <a:t>RecSys</a:t>
            </a:r>
            <a:r>
              <a:rPr lang="en-US" sz="3200" dirty="0"/>
              <a:t> on ARM &amp; </a:t>
            </a:r>
            <a:r>
              <a:rPr lang="en-US" sz="3200" dirty="0" err="1"/>
              <a:t>CoFactor</a:t>
            </a:r>
            <a:endParaRPr lang="en-US" sz="3200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1D05A71-BB32-6331-69D8-2BA2185E275D}"/>
              </a:ext>
            </a:extLst>
          </p:cNvPr>
          <p:cNvCxnSpPr/>
          <p:nvPr/>
        </p:nvCxnSpPr>
        <p:spPr>
          <a:xfrm>
            <a:off x="838200" y="1047750"/>
            <a:ext cx="9972675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80C8A202-4681-0EDF-A713-BAAD4BD11C66}"/>
              </a:ext>
            </a:extLst>
          </p:cNvPr>
          <p:cNvSpPr txBox="1"/>
          <p:nvPr/>
        </p:nvSpPr>
        <p:spPr>
          <a:xfrm>
            <a:off x="838200" y="1348798"/>
            <a:ext cx="4812145" cy="45858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Hybrid </a:t>
            </a:r>
            <a:r>
              <a:rPr lang="en-US" b="1" dirty="0" err="1"/>
              <a:t>RecSys</a:t>
            </a:r>
            <a:r>
              <a:rPr lang="en-US" b="1" dirty="0"/>
              <a:t> on ARM </a:t>
            </a:r>
            <a:r>
              <a:rPr lang="en-US" b="1" dirty="0">
                <a:solidFill>
                  <a:schemeClr val="accent1"/>
                </a:solidFill>
              </a:rPr>
              <a:t>[</a:t>
            </a:r>
            <a:r>
              <a:rPr lang="en-US" b="1" dirty="0" err="1">
                <a:solidFill>
                  <a:schemeClr val="accent1"/>
                </a:solidFill>
              </a:rPr>
              <a:t>Alsalama</a:t>
            </a:r>
            <a:r>
              <a:rPr lang="en-US" b="1" dirty="0">
                <a:solidFill>
                  <a:schemeClr val="accent1"/>
                </a:solidFill>
              </a:rPr>
              <a:t>, 2013]</a:t>
            </a:r>
          </a:p>
          <a:p>
            <a:endParaRPr lang="en-US" b="1" dirty="0"/>
          </a:p>
          <a:p>
            <a:r>
              <a:rPr lang="en-US" sz="1600" b="1" dirty="0"/>
              <a:t>Method: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Combines Association Rule Mining (ARM) and Content-Based Filtering (CBF).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r>
              <a:rPr lang="en-US" sz="1600" b="1" dirty="0"/>
              <a:t>Process: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Items are distinguished as 'favorite' or 'non-favorite’.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'Favorite' items are mapped to ARM rules.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'Non-favorite' items use content-based filtering to map to the next 'favorite' item.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r>
              <a:rPr lang="en-US" sz="1600" b="1" dirty="0"/>
              <a:t>Gaps:</a:t>
            </a: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Metadata Dependency:</a:t>
            </a:r>
            <a:r>
              <a:rPr lang="en-US" sz="1600" dirty="0"/>
              <a:t> Still a hybrid model that requires metadata for the CBF component.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Sparsity:</a:t>
            </a:r>
            <a:r>
              <a:rPr lang="en-US" sz="1600" dirty="0"/>
              <a:t> Struggles with sparse ratings, which results in fewer association rules being found.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A991427-AD96-F2C8-94E6-8590FCDBF4AE}"/>
              </a:ext>
            </a:extLst>
          </p:cNvPr>
          <p:cNvSpPr txBox="1"/>
          <p:nvPr/>
        </p:nvSpPr>
        <p:spPr>
          <a:xfrm>
            <a:off x="6326909" y="1348798"/>
            <a:ext cx="5257800" cy="52937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Co-Factor </a:t>
            </a:r>
            <a:r>
              <a:rPr lang="en-US" b="1" dirty="0">
                <a:solidFill>
                  <a:schemeClr val="accent1"/>
                </a:solidFill>
              </a:rPr>
              <a:t>[Liang et al., 2016]</a:t>
            </a:r>
          </a:p>
          <a:p>
            <a:endParaRPr lang="en-US" b="1" dirty="0"/>
          </a:p>
          <a:p>
            <a:r>
              <a:rPr lang="en-US" sz="1600" b="1" dirty="0"/>
              <a:t>Method: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Uses Shifted Positive Pointwise Mutual Information function (SPPMI) to create an item-item signal matrix.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r>
              <a:rPr lang="en-US" sz="1600" b="1" dirty="0"/>
              <a:t>Process: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Calculates SPPMI score for item pairs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i="1" dirty="0"/>
              <a:t>{</a:t>
            </a:r>
            <a:r>
              <a:rPr lang="en-US" sz="1400" i="1" dirty="0" err="1"/>
              <a:t>LotR</a:t>
            </a:r>
            <a:r>
              <a:rPr lang="en-US" sz="1400" i="1" dirty="0"/>
              <a:t> 1} → {</a:t>
            </a:r>
            <a:r>
              <a:rPr lang="en-US" sz="1400" i="1" dirty="0" err="1"/>
              <a:t>LotR</a:t>
            </a:r>
            <a:r>
              <a:rPr lang="en-US" sz="1400" i="1" dirty="0"/>
              <a:t> 2}.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Adds this signal score to the loss function.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Factorizes both the user-item matrix (Y) and the item-item signal matrix (M) simultaneously.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Does not require any additional metadata.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r>
              <a:rPr lang="en-US" sz="1600" b="1" dirty="0"/>
              <a:t>Gaps: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Simple Rules:</a:t>
            </a:r>
            <a:r>
              <a:rPr lang="en-US" sz="1600" dirty="0"/>
              <a:t> SPPMI is limited to detecting 1-to-1 item relationships (e.g., {A} → {B}), not complex, multi-item rules (e.g., {A, B} → {C}).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Cold-Start:</a:t>
            </a:r>
            <a:r>
              <a:rPr lang="en-US" sz="1600" dirty="0"/>
              <a:t> Does not modify or augment transactions, so it doesn't fully address cold-start or warm-start problems.</a:t>
            </a:r>
          </a:p>
        </p:txBody>
      </p:sp>
    </p:spTree>
    <p:extLst>
      <p:ext uri="{BB962C8B-B14F-4D97-AF65-F5344CB8AC3E}">
        <p14:creationId xmlns:p14="http://schemas.microsoft.com/office/powerpoint/2010/main" val="40834924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BB02BC-24C0-C2EB-49DC-121487F732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B964F4AC-172E-A942-277D-0153224D6837}"/>
              </a:ext>
            </a:extLst>
          </p:cNvPr>
          <p:cNvSpPr txBox="1">
            <a:spLocks/>
          </p:cNvSpPr>
          <p:nvPr/>
        </p:nvSpPr>
        <p:spPr>
          <a:xfrm>
            <a:off x="838200" y="343190"/>
            <a:ext cx="10515600" cy="6324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dirty="0"/>
              <a:t>CARMS-MF: How It Works (Workflow)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4BF99C2-841E-8C31-5F09-A98920125232}"/>
              </a:ext>
            </a:extLst>
          </p:cNvPr>
          <p:cNvCxnSpPr/>
          <p:nvPr/>
        </p:nvCxnSpPr>
        <p:spPr>
          <a:xfrm>
            <a:off x="838200" y="1047750"/>
            <a:ext cx="9972675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AFF79FA5-7F13-09F0-B953-83D915932E2C}"/>
              </a:ext>
            </a:extLst>
          </p:cNvPr>
          <p:cNvCxnSpPr>
            <a:cxnSpLocks/>
          </p:cNvCxnSpPr>
          <p:nvPr/>
        </p:nvCxnSpPr>
        <p:spPr>
          <a:xfrm>
            <a:off x="923925" y="2467551"/>
            <a:ext cx="48387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C1DFC66B-5B1A-C955-E557-3567AA219B72}"/>
              </a:ext>
            </a:extLst>
          </p:cNvPr>
          <p:cNvSpPr txBox="1"/>
          <p:nvPr/>
        </p:nvSpPr>
        <p:spPr>
          <a:xfrm>
            <a:off x="838200" y="1348798"/>
            <a:ext cx="481214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/>
              <a:t>1. Prepare Data: Pre-process user-item matrix.</a:t>
            </a:r>
            <a:endParaRPr lang="en-US" sz="1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B6D48C6-0A7E-AD28-351D-6FEF9BE9A6D5}"/>
                  </a:ext>
                </a:extLst>
              </p:cNvPr>
              <p:cNvSpPr txBox="1"/>
              <p:nvPr/>
            </p:nvSpPr>
            <p:spPr>
              <a:xfrm>
                <a:off x="1232033" y="1685150"/>
                <a:ext cx="895437" cy="56977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1400" i="1">
                          <a:latin typeface="Cambria Math" panose="02040503050406030204" pitchFamily="18" charset="0"/>
                        </a:rPr>
                        <m:t>Y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4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  <m:e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B6D48C6-0A7E-AD28-351D-6FEF9BE9A6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2033" y="1685150"/>
                <a:ext cx="895437" cy="56977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459B327D-4E35-B5C6-5935-6CAC56AAA52B}"/>
                  </a:ext>
                </a:extLst>
              </p:cNvPr>
              <p:cNvSpPr txBox="1"/>
              <p:nvPr/>
            </p:nvSpPr>
            <p:spPr>
              <a:xfrm>
                <a:off x="3429949" y="1815987"/>
                <a:ext cx="1266564" cy="38343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14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Y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T</m:t>
                          </m:r>
                        </m:sup>
                      </m:sSup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4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  <m:e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459B327D-4E35-B5C6-5935-6CAC56AAA5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29949" y="1815987"/>
                <a:ext cx="1266564" cy="383438"/>
              </a:xfrm>
              <a:prstGeom prst="rect">
                <a:avLst/>
              </a:prstGeom>
              <a:blipFill>
                <a:blip r:embed="rId3"/>
                <a:stretch>
                  <a:fillRect l="-2899" b="-1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B37595A1-3BC1-6F90-3086-AB056FBD715B}"/>
              </a:ext>
            </a:extLst>
          </p:cNvPr>
          <p:cNvSpPr txBox="1"/>
          <p:nvPr/>
        </p:nvSpPr>
        <p:spPr>
          <a:xfrm>
            <a:off x="1084736" y="2206396"/>
            <a:ext cx="131747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User-item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677F47C-12BD-C744-516E-07C4664533A1}"/>
              </a:ext>
            </a:extLst>
          </p:cNvPr>
          <p:cNvSpPr txBox="1"/>
          <p:nvPr/>
        </p:nvSpPr>
        <p:spPr>
          <a:xfrm>
            <a:off x="3610611" y="2200122"/>
            <a:ext cx="131747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Item-user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7CDDDCB-6768-207F-9B4E-99A3EAE2C514}"/>
              </a:ext>
            </a:extLst>
          </p:cNvPr>
          <p:cNvSpPr txBox="1"/>
          <p:nvPr/>
        </p:nvSpPr>
        <p:spPr>
          <a:xfrm>
            <a:off x="838199" y="2547587"/>
            <a:ext cx="481214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2. Perform Clustering: Cluster users and items.</a:t>
            </a:r>
            <a:endParaRPr lang="en-US" sz="1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D8296FBC-2C4A-8291-F54D-31F93EB1EA30}"/>
                  </a:ext>
                </a:extLst>
              </p:cNvPr>
              <p:cNvSpPr txBox="1"/>
              <p:nvPr/>
            </p:nvSpPr>
            <p:spPr>
              <a:xfrm>
                <a:off x="1084736" y="2887771"/>
                <a:ext cx="2225506" cy="215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sz="1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1400" b="0" i="1" smtClean="0">
                              <a:highlight>
                                <a:srgbClr val="00FFFF"/>
                              </a:highlight>
                              <a:latin typeface="Cambria Math" panose="02040503050406030204" pitchFamily="18" charset="0"/>
                            </a:rPr>
                            <m:t>user</m:t>
                          </m:r>
                          <m:r>
                            <a:rPr lang="en-US" sz="1400" b="0" i="1" smtClean="0">
                              <a:highlight>
                                <a:srgbClr val="00FFFF"/>
                              </a:highlight>
                              <a:latin typeface="Cambria Math" panose="02040503050406030204" pitchFamily="18" charset="0"/>
                            </a:rPr>
                            <m:t>_</m:t>
                          </m:r>
                          <m:r>
                            <m:rPr>
                              <m:sty m:val="p"/>
                            </m:rPr>
                            <a:rPr lang="en-US" sz="1400" b="0" i="1" smtClean="0">
                              <a:highlight>
                                <a:srgbClr val="00FFFF"/>
                              </a:highlight>
                              <a:latin typeface="Cambria Math" panose="02040503050406030204" pitchFamily="18" charset="0"/>
                            </a:rPr>
                            <m:t>group</m:t>
                          </m:r>
                          <m:r>
                            <a:rPr lang="en-US" sz="1400" b="0" i="1" smtClean="0">
                              <a:highlight>
                                <a:srgbClr val="00FFFF"/>
                              </a:highlight>
                              <a:latin typeface="Cambria Math" panose="02040503050406030204" pitchFamily="18" charset="0"/>
                            </a:rPr>
                            <m:t>1, </m:t>
                          </m:r>
                          <m:r>
                            <m:rPr>
                              <m:sty m:val="p"/>
                            </m:rPr>
                            <a:rPr lang="en-US" sz="1400" b="0" i="1" smtClean="0">
                              <a:highlight>
                                <a:srgbClr val="00FFFF"/>
                              </a:highlight>
                              <a:latin typeface="Cambria Math" panose="02040503050406030204" pitchFamily="18" charset="0"/>
                            </a:rPr>
                            <m:t>user</m:t>
                          </m:r>
                          <m:r>
                            <a:rPr lang="en-US" sz="1400" b="0" i="1" smtClean="0">
                              <a:highlight>
                                <a:srgbClr val="00FFFF"/>
                              </a:highlight>
                              <a:latin typeface="Cambria Math" panose="02040503050406030204" pitchFamily="18" charset="0"/>
                            </a:rPr>
                            <m:t>_</m:t>
                          </m:r>
                          <m:r>
                            <m:rPr>
                              <m:sty m:val="p"/>
                            </m:rPr>
                            <a:rPr lang="en-US" sz="1400" b="0" i="1" smtClean="0">
                              <a:highlight>
                                <a:srgbClr val="00FFFF"/>
                              </a:highlight>
                              <a:latin typeface="Cambria Math" panose="02040503050406030204" pitchFamily="18" charset="0"/>
                            </a:rPr>
                            <m:t>gruop</m:t>
                          </m:r>
                          <m:r>
                            <a:rPr lang="en-US" sz="1400" b="0" i="1" smtClean="0">
                              <a:highlight>
                                <a:srgbClr val="00FFFF"/>
                              </a:highlight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D8296FBC-2C4A-8291-F54D-31F93EB1EA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4736" y="2887771"/>
                <a:ext cx="2225506" cy="215444"/>
              </a:xfrm>
              <a:prstGeom prst="rect">
                <a:avLst/>
              </a:prstGeom>
              <a:blipFill>
                <a:blip r:embed="rId4"/>
                <a:stretch>
                  <a:fillRect b="-314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TextBox 21">
            <a:extLst>
              <a:ext uri="{FF2B5EF4-FFF2-40B4-BE49-F238E27FC236}">
                <a16:creationId xmlns:a16="http://schemas.microsoft.com/office/drawing/2014/main" id="{38B2933A-00BC-FDC0-FCD0-CB31C2A242DB}"/>
              </a:ext>
            </a:extLst>
          </p:cNvPr>
          <p:cNvSpPr txBox="1"/>
          <p:nvPr/>
        </p:nvSpPr>
        <p:spPr>
          <a:xfrm>
            <a:off x="1195101" y="3109041"/>
            <a:ext cx="9693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User 1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User 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D23E320-62B9-BF81-443E-AE6FF8EB2C2F}"/>
              </a:ext>
            </a:extLst>
          </p:cNvPr>
          <p:cNvSpPr txBox="1"/>
          <p:nvPr/>
        </p:nvSpPr>
        <p:spPr>
          <a:xfrm>
            <a:off x="2197489" y="3109041"/>
            <a:ext cx="9693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User 3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E60B2AD2-2817-BA18-BEBC-4EBF1B92BA74}"/>
                  </a:ext>
                </a:extLst>
              </p:cNvPr>
              <p:cNvSpPr txBox="1"/>
              <p:nvPr/>
            </p:nvSpPr>
            <p:spPr>
              <a:xfrm>
                <a:off x="3444236" y="2887771"/>
                <a:ext cx="2248464" cy="215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sz="1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1400" b="0" i="1" smtClean="0">
                              <a:highlight>
                                <a:srgbClr val="FFFF00"/>
                              </a:highlight>
                              <a:latin typeface="Cambria Math" panose="02040503050406030204" pitchFamily="18" charset="0"/>
                            </a:rPr>
                            <m:t>Item</m:t>
                          </m:r>
                          <m:r>
                            <a:rPr lang="en-US" sz="1400" b="0" i="1" smtClean="0">
                              <a:highlight>
                                <a:srgbClr val="FFFF00"/>
                              </a:highlight>
                              <a:latin typeface="Cambria Math" panose="02040503050406030204" pitchFamily="18" charset="0"/>
                            </a:rPr>
                            <m:t>_</m:t>
                          </m:r>
                          <m:r>
                            <m:rPr>
                              <m:sty m:val="p"/>
                            </m:rPr>
                            <a:rPr lang="en-US" sz="1400" b="0" i="1" smtClean="0">
                              <a:highlight>
                                <a:srgbClr val="FFFF00"/>
                              </a:highlight>
                              <a:latin typeface="Cambria Math" panose="02040503050406030204" pitchFamily="18" charset="0"/>
                            </a:rPr>
                            <m:t>group</m:t>
                          </m:r>
                          <m:r>
                            <a:rPr lang="en-US" sz="1400" b="0" i="1" smtClean="0">
                              <a:highlight>
                                <a:srgbClr val="FFFF00"/>
                              </a:highlight>
                              <a:latin typeface="Cambria Math" panose="02040503050406030204" pitchFamily="18" charset="0"/>
                            </a:rPr>
                            <m:t>1, </m:t>
                          </m:r>
                          <m:r>
                            <m:rPr>
                              <m:sty m:val="p"/>
                            </m:rPr>
                            <a:rPr lang="en-US" sz="1400" b="0" i="1" smtClean="0">
                              <a:highlight>
                                <a:srgbClr val="FFFF00"/>
                              </a:highlight>
                              <a:latin typeface="Cambria Math" panose="02040503050406030204" pitchFamily="18" charset="0"/>
                            </a:rPr>
                            <m:t>Item</m:t>
                          </m:r>
                          <m:r>
                            <a:rPr lang="en-US" sz="1400" b="0" i="1" smtClean="0">
                              <a:highlight>
                                <a:srgbClr val="FFFF00"/>
                              </a:highlight>
                              <a:latin typeface="Cambria Math" panose="02040503050406030204" pitchFamily="18" charset="0"/>
                            </a:rPr>
                            <m:t>_</m:t>
                          </m:r>
                          <m:r>
                            <m:rPr>
                              <m:sty m:val="p"/>
                            </m:rPr>
                            <a:rPr lang="en-US" sz="1400" b="0" i="1" smtClean="0">
                              <a:highlight>
                                <a:srgbClr val="FFFF00"/>
                              </a:highlight>
                              <a:latin typeface="Cambria Math" panose="02040503050406030204" pitchFamily="18" charset="0"/>
                            </a:rPr>
                            <m:t>gruop</m:t>
                          </m:r>
                          <m:r>
                            <a:rPr lang="en-US" sz="1400" b="0" i="1" smtClean="0">
                              <a:highlight>
                                <a:srgbClr val="FFFF00"/>
                              </a:highlight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E60B2AD2-2817-BA18-BEBC-4EBF1B92BA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44236" y="2887771"/>
                <a:ext cx="2248464" cy="215444"/>
              </a:xfrm>
              <a:prstGeom prst="rect">
                <a:avLst/>
              </a:prstGeom>
              <a:blipFill>
                <a:blip r:embed="rId5"/>
                <a:stretch>
                  <a:fillRect b="-314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TextBox 26">
            <a:extLst>
              <a:ext uri="{FF2B5EF4-FFF2-40B4-BE49-F238E27FC236}">
                <a16:creationId xmlns:a16="http://schemas.microsoft.com/office/drawing/2014/main" id="{1B49FB6A-FC92-C440-C982-2331A8D92566}"/>
              </a:ext>
            </a:extLst>
          </p:cNvPr>
          <p:cNvSpPr txBox="1"/>
          <p:nvPr/>
        </p:nvSpPr>
        <p:spPr>
          <a:xfrm>
            <a:off x="3597925" y="3112023"/>
            <a:ext cx="9693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Item 1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ECE159D-F1FA-E63F-796A-2E18D3B0A7B4}"/>
              </a:ext>
            </a:extLst>
          </p:cNvPr>
          <p:cNvSpPr txBox="1"/>
          <p:nvPr/>
        </p:nvSpPr>
        <p:spPr>
          <a:xfrm>
            <a:off x="4600313" y="3112023"/>
            <a:ext cx="9693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Item 3</a:t>
            </a: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2559DC06-3E13-CD88-7DB0-BAD24CD3013C}"/>
              </a:ext>
            </a:extLst>
          </p:cNvPr>
          <p:cNvCxnSpPr>
            <a:cxnSpLocks/>
          </p:cNvCxnSpPr>
          <p:nvPr/>
        </p:nvCxnSpPr>
        <p:spPr>
          <a:xfrm>
            <a:off x="923925" y="3571915"/>
            <a:ext cx="48387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54FDACFD-4CC0-C39C-7A28-676EA8302631}"/>
              </a:ext>
            </a:extLst>
          </p:cNvPr>
          <p:cNvSpPr txBox="1"/>
          <p:nvPr/>
        </p:nvSpPr>
        <p:spPr>
          <a:xfrm>
            <a:off x="838199" y="3684932"/>
            <a:ext cx="481214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3. Augment Transactions: Add cluster IDs to transactions.</a:t>
            </a:r>
            <a:endParaRPr lang="en-US" sz="1400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D226D0C-0661-D6CD-65CC-E29432E3DE1F}"/>
              </a:ext>
            </a:extLst>
          </p:cNvPr>
          <p:cNvSpPr txBox="1"/>
          <p:nvPr/>
        </p:nvSpPr>
        <p:spPr>
          <a:xfrm>
            <a:off x="900141" y="4001559"/>
            <a:ext cx="103777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User 1: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3D41854E-805E-5030-1641-799B66FF186D}"/>
                  </a:ext>
                </a:extLst>
              </p:cNvPr>
              <p:cNvSpPr txBox="1"/>
              <p:nvPr/>
            </p:nvSpPr>
            <p:spPr>
              <a:xfrm>
                <a:off x="1627827" y="4044070"/>
                <a:ext cx="631135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sz="1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Item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3D41854E-805E-5030-1641-799B66FF18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7827" y="4044070"/>
                <a:ext cx="631135" cy="215444"/>
              </a:xfrm>
              <a:prstGeom prst="rect">
                <a:avLst/>
              </a:prstGeom>
              <a:blipFill>
                <a:blip r:embed="rId6"/>
                <a:stretch>
                  <a:fillRect b="-27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8CDE0038-6640-B1CD-AB82-10736F73691D}"/>
                  </a:ext>
                </a:extLst>
              </p:cNvPr>
              <p:cNvSpPr txBox="1"/>
              <p:nvPr/>
            </p:nvSpPr>
            <p:spPr>
              <a:xfrm>
                <a:off x="2601711" y="4044070"/>
                <a:ext cx="2720425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sz="1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1400" b="0" i="1" smtClean="0">
                              <a:highlight>
                                <a:srgbClr val="00FFFF"/>
                              </a:highlight>
                              <a:latin typeface="Cambria Math" panose="02040503050406030204" pitchFamily="18" charset="0"/>
                            </a:rPr>
                            <m:t>User</m:t>
                          </m:r>
                          <m:r>
                            <a:rPr lang="en-US" sz="1400" b="0" i="1" smtClean="0">
                              <a:highlight>
                                <a:srgbClr val="00FFFF"/>
                              </a:highlight>
                              <a:latin typeface="Cambria Math" panose="02040503050406030204" pitchFamily="18" charset="0"/>
                            </a:rPr>
                            <m:t>_</m:t>
                          </m:r>
                          <m:r>
                            <m:rPr>
                              <m:sty m:val="p"/>
                            </m:rPr>
                            <a:rPr lang="en-US" sz="1400" b="0" i="1" smtClean="0">
                              <a:highlight>
                                <a:srgbClr val="00FFFF"/>
                              </a:highlight>
                              <a:latin typeface="Cambria Math" panose="02040503050406030204" pitchFamily="18" charset="0"/>
                            </a:rPr>
                            <m:t>group</m:t>
                          </m:r>
                          <m:r>
                            <a:rPr lang="en-US" sz="1400" b="0" i="1" smtClean="0">
                              <a:highlight>
                                <a:srgbClr val="00FFFF"/>
                              </a:highlight>
                              <a:latin typeface="Cambria Math" panose="02040503050406030204" pitchFamily="18" charset="0"/>
                            </a:rPr>
                            <m:t>2, </m:t>
                          </m:r>
                          <m:r>
                            <m:rPr>
                              <m:sty m:val="p"/>
                            </m:rP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Item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1, </m:t>
                          </m:r>
                          <m:r>
                            <m:rPr>
                              <m:sty m:val="p"/>
                            </m:rPr>
                            <a:rPr lang="en-US" sz="1400" b="0" i="1" smtClean="0">
                              <a:highlight>
                                <a:srgbClr val="FFFF00"/>
                              </a:highlight>
                              <a:latin typeface="Cambria Math" panose="02040503050406030204" pitchFamily="18" charset="0"/>
                            </a:rPr>
                            <m:t>Item</m:t>
                          </m:r>
                          <m:r>
                            <a:rPr lang="en-US" sz="1400" b="0" i="1" smtClean="0">
                              <a:highlight>
                                <a:srgbClr val="FFFF00"/>
                              </a:highlight>
                              <a:latin typeface="Cambria Math" panose="02040503050406030204" pitchFamily="18" charset="0"/>
                            </a:rPr>
                            <m:t>_</m:t>
                          </m:r>
                          <m:r>
                            <m:rPr>
                              <m:sty m:val="p"/>
                            </m:rPr>
                            <a:rPr lang="en-US" sz="1400" b="0" i="1" smtClean="0">
                              <a:highlight>
                                <a:srgbClr val="FFFF00"/>
                              </a:highlight>
                              <a:latin typeface="Cambria Math" panose="02040503050406030204" pitchFamily="18" charset="0"/>
                            </a:rPr>
                            <m:t>group</m:t>
                          </m:r>
                          <m:r>
                            <a:rPr lang="en-US" sz="1400" b="0" i="1" smtClean="0">
                              <a:highlight>
                                <a:srgbClr val="FFFF00"/>
                              </a:highlight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8CDE0038-6640-B1CD-AB82-10736F7369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01711" y="4044070"/>
                <a:ext cx="2720425" cy="215444"/>
              </a:xfrm>
              <a:prstGeom prst="rect">
                <a:avLst/>
              </a:prstGeom>
              <a:blipFill>
                <a:blip r:embed="rId7"/>
                <a:stretch>
                  <a:fillRect b="-277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" name="TextBox 40">
            <a:extLst>
              <a:ext uri="{FF2B5EF4-FFF2-40B4-BE49-F238E27FC236}">
                <a16:creationId xmlns:a16="http://schemas.microsoft.com/office/drawing/2014/main" id="{564B8FB6-B0ED-03B9-0B0E-6DE95DF4232C}"/>
              </a:ext>
            </a:extLst>
          </p:cNvPr>
          <p:cNvSpPr txBox="1"/>
          <p:nvPr/>
        </p:nvSpPr>
        <p:spPr>
          <a:xfrm>
            <a:off x="900141" y="4292691"/>
            <a:ext cx="103777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User 2: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861C26AE-1128-3B18-3F76-EDEFBEBE758B}"/>
                  </a:ext>
                </a:extLst>
              </p:cNvPr>
              <p:cNvSpPr txBox="1"/>
              <p:nvPr/>
            </p:nvSpPr>
            <p:spPr>
              <a:xfrm>
                <a:off x="1627827" y="4335202"/>
                <a:ext cx="340991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sz="1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/>
                      </m:d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861C26AE-1128-3B18-3F76-EDEFBEBE75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7827" y="4335202"/>
                <a:ext cx="340991" cy="215444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65600367-89E5-13FF-669D-F32DB1EFC856}"/>
                  </a:ext>
                </a:extLst>
              </p:cNvPr>
              <p:cNvSpPr txBox="1"/>
              <p:nvPr/>
            </p:nvSpPr>
            <p:spPr>
              <a:xfrm>
                <a:off x="2601711" y="4335202"/>
                <a:ext cx="1153714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sz="1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1400" b="0" i="1" smtClean="0">
                              <a:highlight>
                                <a:srgbClr val="00FFFF"/>
                              </a:highlight>
                              <a:latin typeface="Cambria Math" panose="02040503050406030204" pitchFamily="18" charset="0"/>
                            </a:rPr>
                            <m:t>User</m:t>
                          </m:r>
                          <m:r>
                            <a:rPr lang="en-US" sz="1400" b="0" i="1" smtClean="0">
                              <a:highlight>
                                <a:srgbClr val="00FFFF"/>
                              </a:highlight>
                              <a:latin typeface="Cambria Math" panose="02040503050406030204" pitchFamily="18" charset="0"/>
                            </a:rPr>
                            <m:t>_</m:t>
                          </m:r>
                          <m:r>
                            <m:rPr>
                              <m:sty m:val="p"/>
                            </m:rPr>
                            <a:rPr lang="en-US" sz="1400" b="0" i="1" smtClean="0">
                              <a:highlight>
                                <a:srgbClr val="00FFFF"/>
                              </a:highlight>
                              <a:latin typeface="Cambria Math" panose="02040503050406030204" pitchFamily="18" charset="0"/>
                            </a:rPr>
                            <m:t>group</m:t>
                          </m:r>
                          <m:r>
                            <a:rPr lang="en-US" sz="1400" b="0" i="1" smtClean="0">
                              <a:highlight>
                                <a:srgbClr val="00FFFF"/>
                              </a:highlight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65600367-89E5-13FF-669D-F32DB1EFC8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01711" y="4335202"/>
                <a:ext cx="1153714" cy="215444"/>
              </a:xfrm>
              <a:prstGeom prst="rect">
                <a:avLst/>
              </a:prstGeom>
              <a:blipFill>
                <a:blip r:embed="rId9"/>
                <a:stretch>
                  <a:fillRect b="-314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4" name="TextBox 43">
            <a:extLst>
              <a:ext uri="{FF2B5EF4-FFF2-40B4-BE49-F238E27FC236}">
                <a16:creationId xmlns:a16="http://schemas.microsoft.com/office/drawing/2014/main" id="{DFCFB20D-5B66-83AB-F100-8C99FDC9A1C1}"/>
              </a:ext>
            </a:extLst>
          </p:cNvPr>
          <p:cNvSpPr txBox="1"/>
          <p:nvPr/>
        </p:nvSpPr>
        <p:spPr>
          <a:xfrm>
            <a:off x="900141" y="4593157"/>
            <a:ext cx="103777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User 2: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7B15047A-FA19-C842-3CC6-9D7EBE4711B6}"/>
                  </a:ext>
                </a:extLst>
              </p:cNvPr>
              <p:cNvSpPr txBox="1"/>
              <p:nvPr/>
            </p:nvSpPr>
            <p:spPr>
              <a:xfrm>
                <a:off x="1627827" y="4635668"/>
                <a:ext cx="631135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sz="1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Item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7B15047A-FA19-C842-3CC6-9D7EBE4711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7827" y="4635668"/>
                <a:ext cx="631135" cy="215444"/>
              </a:xfrm>
              <a:prstGeom prst="rect">
                <a:avLst/>
              </a:prstGeom>
              <a:blipFill>
                <a:blip r:embed="rId10"/>
                <a:stretch>
                  <a:fillRect b="-27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1F827E78-B033-9788-B1AE-B043D866FA4F}"/>
                  </a:ext>
                </a:extLst>
              </p:cNvPr>
              <p:cNvSpPr txBox="1"/>
              <p:nvPr/>
            </p:nvSpPr>
            <p:spPr>
              <a:xfrm>
                <a:off x="2555991" y="4638486"/>
                <a:ext cx="2720425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sz="1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1400" b="0" i="1" smtClean="0">
                              <a:highlight>
                                <a:srgbClr val="00FFFF"/>
                              </a:highlight>
                              <a:latin typeface="Cambria Math" panose="02040503050406030204" pitchFamily="18" charset="0"/>
                            </a:rPr>
                            <m:t>User</m:t>
                          </m:r>
                          <m:r>
                            <a:rPr lang="en-US" sz="1400" b="0" i="1" smtClean="0">
                              <a:highlight>
                                <a:srgbClr val="00FFFF"/>
                              </a:highlight>
                              <a:latin typeface="Cambria Math" panose="02040503050406030204" pitchFamily="18" charset="0"/>
                            </a:rPr>
                            <m:t>_</m:t>
                          </m:r>
                          <m:r>
                            <m:rPr>
                              <m:sty m:val="p"/>
                            </m:rPr>
                            <a:rPr lang="en-US" sz="1400" b="0" i="1" smtClean="0">
                              <a:highlight>
                                <a:srgbClr val="00FFFF"/>
                              </a:highlight>
                              <a:latin typeface="Cambria Math" panose="02040503050406030204" pitchFamily="18" charset="0"/>
                            </a:rPr>
                            <m:t>group</m:t>
                          </m:r>
                          <m:r>
                            <a:rPr lang="en-US" sz="1400" b="0" i="1" smtClean="0">
                              <a:highlight>
                                <a:srgbClr val="00FFFF"/>
                              </a:highlight>
                              <a:latin typeface="Cambria Math" panose="02040503050406030204" pitchFamily="18" charset="0"/>
                            </a:rPr>
                            <m:t>1,</m:t>
                          </m:r>
                          <m:r>
                            <m:rPr>
                              <m:sty m:val="p"/>
                            </m:rP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Item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2, </m:t>
                          </m:r>
                          <m:r>
                            <m:rPr>
                              <m:sty m:val="p"/>
                            </m:rPr>
                            <a:rPr lang="en-US" sz="1400" b="0" i="1" smtClean="0">
                              <a:highlight>
                                <a:srgbClr val="FFFF00"/>
                              </a:highlight>
                              <a:latin typeface="Cambria Math" panose="02040503050406030204" pitchFamily="18" charset="0"/>
                            </a:rPr>
                            <m:t>Item</m:t>
                          </m:r>
                          <m:r>
                            <a:rPr lang="en-US" sz="1400" b="0" i="1" smtClean="0">
                              <a:highlight>
                                <a:srgbClr val="FFFF00"/>
                              </a:highlight>
                              <a:latin typeface="Cambria Math" panose="02040503050406030204" pitchFamily="18" charset="0"/>
                            </a:rPr>
                            <m:t>_</m:t>
                          </m:r>
                          <m:r>
                            <m:rPr>
                              <m:sty m:val="p"/>
                            </m:rPr>
                            <a:rPr lang="en-US" sz="1400" b="0" i="1" smtClean="0">
                              <a:highlight>
                                <a:srgbClr val="FFFF00"/>
                              </a:highlight>
                              <a:latin typeface="Cambria Math" panose="02040503050406030204" pitchFamily="18" charset="0"/>
                            </a:rPr>
                            <m:t>group</m:t>
                          </m:r>
                          <m:r>
                            <a:rPr lang="en-US" sz="1400" b="0" i="1" smtClean="0">
                              <a:highlight>
                                <a:srgbClr val="FFFF00"/>
                              </a:highlight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1F827E78-B033-9788-B1AE-B043D866FA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55991" y="4638486"/>
                <a:ext cx="2720425" cy="215444"/>
              </a:xfrm>
              <a:prstGeom prst="rect">
                <a:avLst/>
              </a:prstGeom>
              <a:blipFill>
                <a:blip r:embed="rId11"/>
                <a:stretch>
                  <a:fillRect b="-314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8" name="TextBox 47">
            <a:extLst>
              <a:ext uri="{FF2B5EF4-FFF2-40B4-BE49-F238E27FC236}">
                <a16:creationId xmlns:a16="http://schemas.microsoft.com/office/drawing/2014/main" id="{9BBA8955-AF00-0D13-9E92-180EEB6E839D}"/>
              </a:ext>
            </a:extLst>
          </p:cNvPr>
          <p:cNvSpPr txBox="1"/>
          <p:nvPr/>
        </p:nvSpPr>
        <p:spPr>
          <a:xfrm>
            <a:off x="838199" y="5174781"/>
            <a:ext cx="49213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4. Mine Rules: Run FP-growth on augmented transactions.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676642DD-7015-7900-6DEF-200FFDBD37D4}"/>
                  </a:ext>
                </a:extLst>
              </p:cNvPr>
              <p:cNvSpPr txBox="1"/>
              <p:nvPr/>
            </p:nvSpPr>
            <p:spPr>
              <a:xfrm>
                <a:off x="2796390" y="5580119"/>
                <a:ext cx="1354282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 smtClean="0">
                          <a:latin typeface="Cambria Math" panose="02040503050406030204" pitchFamily="18" charset="0"/>
                        </a:rPr>
                        <m:t>→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1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Item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_</m:t>
                          </m:r>
                          <m:r>
                            <m:rPr>
                              <m:sty m:val="p"/>
                            </m:rP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group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676642DD-7015-7900-6DEF-200FFDBD37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96390" y="5580119"/>
                <a:ext cx="1354282" cy="215444"/>
              </a:xfrm>
              <a:prstGeom prst="rect">
                <a:avLst/>
              </a:prstGeom>
              <a:blipFill>
                <a:blip r:embed="rId12"/>
                <a:stretch>
                  <a:fillRect l="-1802" b="-277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9" name="TextBox 58">
            <a:extLst>
              <a:ext uri="{FF2B5EF4-FFF2-40B4-BE49-F238E27FC236}">
                <a16:creationId xmlns:a16="http://schemas.microsoft.com/office/drawing/2014/main" id="{AD9A298C-65C7-A734-2170-42846F1610FD}"/>
              </a:ext>
            </a:extLst>
          </p:cNvPr>
          <p:cNvSpPr txBox="1"/>
          <p:nvPr/>
        </p:nvSpPr>
        <p:spPr>
          <a:xfrm>
            <a:off x="4256410" y="5533952"/>
            <a:ext cx="16109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Confidence = 0.5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483490D4-357C-5E10-48FF-F156D5028311}"/>
              </a:ext>
            </a:extLst>
          </p:cNvPr>
          <p:cNvSpPr txBox="1"/>
          <p:nvPr/>
        </p:nvSpPr>
        <p:spPr>
          <a:xfrm>
            <a:off x="4256409" y="5825586"/>
            <a:ext cx="16109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Confidence = 0.3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7D00B4CC-9499-2A30-B98C-30A9EFC95EE3}"/>
              </a:ext>
            </a:extLst>
          </p:cNvPr>
          <p:cNvSpPr txBox="1"/>
          <p:nvPr/>
        </p:nvSpPr>
        <p:spPr>
          <a:xfrm>
            <a:off x="4256408" y="6126703"/>
            <a:ext cx="16109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Confidence = 0.6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13D839C2-07C3-FC28-1CC2-773D7F6585D8}"/>
                  </a:ext>
                </a:extLst>
              </p:cNvPr>
              <p:cNvSpPr txBox="1"/>
              <p:nvPr/>
            </p:nvSpPr>
            <p:spPr>
              <a:xfrm>
                <a:off x="939877" y="5568559"/>
                <a:ext cx="1301190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sz="1400" dirty="0"/>
                  <a:t>1.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sz="14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sz="1400" b="0" i="1" smtClean="0">
                            <a:highlight>
                              <a:srgbClr val="00FFFF"/>
                            </a:highlight>
                            <a:latin typeface="Cambria Math" panose="02040503050406030204" pitchFamily="18" charset="0"/>
                          </a:rPr>
                          <m:t>User</m:t>
                        </m:r>
                        <m:r>
                          <a:rPr lang="en-US" sz="1400" b="0" i="1" smtClean="0">
                            <a:highlight>
                              <a:srgbClr val="00FFFF"/>
                            </a:highlight>
                            <a:latin typeface="Cambria Math" panose="02040503050406030204" pitchFamily="18" charset="0"/>
                          </a:rPr>
                          <m:t>_</m:t>
                        </m:r>
                        <m:r>
                          <m:rPr>
                            <m:sty m:val="p"/>
                          </m:rPr>
                          <a:rPr lang="en-US" sz="1400" b="0" i="1" smtClean="0">
                            <a:highlight>
                              <a:srgbClr val="00FFFF"/>
                            </a:highlight>
                            <a:latin typeface="Cambria Math" panose="02040503050406030204" pitchFamily="18" charset="0"/>
                          </a:rPr>
                          <m:t>group</m:t>
                        </m:r>
                        <m:r>
                          <a:rPr lang="en-US" sz="1400" b="0" i="1" smtClean="0">
                            <a:highlight>
                              <a:srgbClr val="00FFFF"/>
                            </a:highlight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</m:oMath>
                </a14:m>
                <a:endParaRPr lang="en-US" sz="1400" dirty="0"/>
              </a:p>
            </p:txBody>
          </p:sp>
        </mc:Choice>
        <mc:Fallback xmlns="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13D839C2-07C3-FC28-1CC2-773D7F6585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9877" y="5568559"/>
                <a:ext cx="1301190" cy="215444"/>
              </a:xfrm>
              <a:prstGeom prst="rect">
                <a:avLst/>
              </a:prstGeom>
              <a:blipFill>
                <a:blip r:embed="rId13"/>
                <a:stretch>
                  <a:fillRect l="-8411" t="-25000" b="-472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9C4D3BEE-D7BB-937B-6546-F8A11051AFA0}"/>
                  </a:ext>
                </a:extLst>
              </p:cNvPr>
              <p:cNvSpPr txBox="1"/>
              <p:nvPr/>
            </p:nvSpPr>
            <p:spPr>
              <a:xfrm>
                <a:off x="2796390" y="5866909"/>
                <a:ext cx="831702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 smtClean="0">
                          <a:latin typeface="Cambria Math" panose="02040503050406030204" pitchFamily="18" charset="0"/>
                        </a:rPr>
                        <m:t>→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1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Item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9C4D3BEE-D7BB-937B-6546-F8A11051AF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96390" y="5866909"/>
                <a:ext cx="831702" cy="215444"/>
              </a:xfrm>
              <a:prstGeom prst="rect">
                <a:avLst/>
              </a:prstGeom>
              <a:blipFill>
                <a:blip r:embed="rId14"/>
                <a:stretch>
                  <a:fillRect l="-2941" b="-27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490819EA-BF88-50A7-8380-90AA778F74F9}"/>
                  </a:ext>
                </a:extLst>
              </p:cNvPr>
              <p:cNvSpPr txBox="1"/>
              <p:nvPr/>
            </p:nvSpPr>
            <p:spPr>
              <a:xfrm>
                <a:off x="939877" y="5855349"/>
                <a:ext cx="1815241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sz="1400" dirty="0"/>
                  <a:t>2.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sz="14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sz="1400" b="0" i="1" smtClean="0">
                            <a:highlight>
                              <a:srgbClr val="00FFFF"/>
                            </a:highlight>
                            <a:latin typeface="Cambria Math" panose="02040503050406030204" pitchFamily="18" charset="0"/>
                          </a:rPr>
                          <m:t>User</m:t>
                        </m:r>
                        <m:r>
                          <a:rPr lang="en-US" sz="1400" b="0" i="1" smtClean="0">
                            <a:highlight>
                              <a:srgbClr val="00FFFF"/>
                            </a:highlight>
                            <a:latin typeface="Cambria Math" panose="02040503050406030204" pitchFamily="18" charset="0"/>
                          </a:rPr>
                          <m:t>_</m:t>
                        </m:r>
                        <m:r>
                          <m:rPr>
                            <m:sty m:val="p"/>
                          </m:rPr>
                          <a:rPr lang="en-US" sz="1400" b="0" i="1" smtClean="0">
                            <a:highlight>
                              <a:srgbClr val="00FFFF"/>
                            </a:highlight>
                            <a:latin typeface="Cambria Math" panose="02040503050406030204" pitchFamily="18" charset="0"/>
                          </a:rPr>
                          <m:t>group</m:t>
                        </m:r>
                        <m:r>
                          <a:rPr lang="en-US" sz="1400" b="0" i="1" smtClean="0">
                            <a:highlight>
                              <a:srgbClr val="00FFFF"/>
                            </a:highlight>
                            <a:latin typeface="Cambria Math" panose="02040503050406030204" pitchFamily="18" charset="0"/>
                          </a:rPr>
                          <m:t>2, </m:t>
                        </m:r>
                        <m:r>
                          <m:rPr>
                            <m:sty m:val="p"/>
                          </m:rPr>
                          <a:rPr lang="en-US" sz="1400" b="0" i="1" smtClean="0">
                            <a:highlight>
                              <a:srgbClr val="00FFFF"/>
                            </a:highlight>
                            <a:latin typeface="Cambria Math" panose="02040503050406030204" pitchFamily="18" charset="0"/>
                          </a:rPr>
                          <m:t>item</m:t>
                        </m:r>
                        <m:r>
                          <a:rPr lang="en-US" sz="1400" b="0" i="1" smtClean="0">
                            <a:highlight>
                              <a:srgbClr val="00FFFF"/>
                            </a:highlight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endParaRPr lang="en-US" sz="1400" dirty="0"/>
              </a:p>
            </p:txBody>
          </p:sp>
        </mc:Choice>
        <mc:Fallback xmlns="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490819EA-BF88-50A7-8380-90AA778F74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9877" y="5855349"/>
                <a:ext cx="1815241" cy="215444"/>
              </a:xfrm>
              <a:prstGeom prst="rect">
                <a:avLst/>
              </a:prstGeom>
              <a:blipFill>
                <a:blip r:embed="rId15"/>
                <a:stretch>
                  <a:fillRect l="-6040" t="-28571" b="-514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333845A7-3AFD-5735-ED3D-CC6F8CB35C9A}"/>
                  </a:ext>
                </a:extLst>
              </p:cNvPr>
              <p:cNvSpPr txBox="1"/>
              <p:nvPr/>
            </p:nvSpPr>
            <p:spPr>
              <a:xfrm>
                <a:off x="2793287" y="6161765"/>
                <a:ext cx="831702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 smtClean="0">
                          <a:latin typeface="Cambria Math" panose="02040503050406030204" pitchFamily="18" charset="0"/>
                        </a:rPr>
                        <m:t>→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1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Item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333845A7-3AFD-5735-ED3D-CC6F8CB35C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93287" y="6161765"/>
                <a:ext cx="831702" cy="215444"/>
              </a:xfrm>
              <a:prstGeom prst="rect">
                <a:avLst/>
              </a:prstGeom>
              <a:blipFill>
                <a:blip r:embed="rId16"/>
                <a:stretch>
                  <a:fillRect l="-2190" b="-57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D35F3673-5F0B-78F9-A6D6-49F1E3C1C604}"/>
                  </a:ext>
                </a:extLst>
              </p:cNvPr>
              <p:cNvSpPr txBox="1"/>
              <p:nvPr/>
            </p:nvSpPr>
            <p:spPr>
              <a:xfrm>
                <a:off x="939877" y="6150205"/>
                <a:ext cx="778611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sz="1400" dirty="0"/>
                  <a:t>3.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sz="14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sz="1400" b="0" i="1" smtClean="0">
                            <a:highlight>
                              <a:srgbClr val="00FFFF"/>
                            </a:highlight>
                            <a:latin typeface="Cambria Math" panose="02040503050406030204" pitchFamily="18" charset="0"/>
                          </a:rPr>
                          <m:t>Item</m:t>
                        </m:r>
                        <m:r>
                          <a:rPr lang="en-US" sz="1400" b="0" i="1" smtClean="0">
                            <a:highlight>
                              <a:srgbClr val="00FFFF"/>
                            </a:highlight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</m:oMath>
                </a14:m>
                <a:endParaRPr lang="en-US" sz="1400" dirty="0"/>
              </a:p>
            </p:txBody>
          </p:sp>
        </mc:Choice>
        <mc:Fallback xmlns=""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D35F3673-5F0B-78F9-A6D6-49F1E3C1C6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9877" y="6150205"/>
                <a:ext cx="778611" cy="215444"/>
              </a:xfrm>
              <a:prstGeom prst="rect">
                <a:avLst/>
              </a:prstGeom>
              <a:blipFill>
                <a:blip r:embed="rId17"/>
                <a:stretch>
                  <a:fillRect l="-14063" t="-25714" b="-514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B64CA8D1-F71B-9963-5850-C3E7B72ABF39}"/>
                  </a:ext>
                </a:extLst>
              </p:cNvPr>
              <p:cNvSpPr txBox="1"/>
              <p:nvPr/>
            </p:nvSpPr>
            <p:spPr>
              <a:xfrm>
                <a:off x="2793287" y="6444723"/>
                <a:ext cx="831702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 smtClean="0">
                          <a:latin typeface="Cambria Math" panose="02040503050406030204" pitchFamily="18" charset="0"/>
                        </a:rPr>
                        <m:t>→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1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Item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B64CA8D1-F71B-9963-5850-C3E7B72ABF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93287" y="6444723"/>
                <a:ext cx="831702" cy="215444"/>
              </a:xfrm>
              <a:prstGeom prst="rect">
                <a:avLst/>
              </a:prstGeom>
              <a:blipFill>
                <a:blip r:embed="rId18"/>
                <a:stretch>
                  <a:fillRect l="-2190" b="-27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9B4CE77C-C6EF-9BA7-71AF-AD58EEE62E98}"/>
                  </a:ext>
                </a:extLst>
              </p:cNvPr>
              <p:cNvSpPr txBox="1"/>
              <p:nvPr/>
            </p:nvSpPr>
            <p:spPr>
              <a:xfrm>
                <a:off x="939877" y="6423927"/>
                <a:ext cx="1301190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sz="1400" dirty="0"/>
                  <a:t>4.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sz="14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sz="1400" b="0" i="1" smtClean="0">
                            <a:highlight>
                              <a:srgbClr val="00FFFF"/>
                            </a:highlight>
                            <a:latin typeface="Cambria Math" panose="02040503050406030204" pitchFamily="18" charset="0"/>
                          </a:rPr>
                          <m:t>User</m:t>
                        </m:r>
                        <m:r>
                          <a:rPr lang="en-US" sz="1400" b="0" i="1" smtClean="0">
                            <a:highlight>
                              <a:srgbClr val="00FFFF"/>
                            </a:highlight>
                            <a:latin typeface="Cambria Math" panose="02040503050406030204" pitchFamily="18" charset="0"/>
                          </a:rPr>
                          <m:t>_</m:t>
                        </m:r>
                        <m:r>
                          <m:rPr>
                            <m:sty m:val="p"/>
                          </m:rPr>
                          <a:rPr lang="en-US" sz="1400" b="0" i="1" smtClean="0">
                            <a:highlight>
                              <a:srgbClr val="00FFFF"/>
                            </a:highlight>
                            <a:latin typeface="Cambria Math" panose="02040503050406030204" pitchFamily="18" charset="0"/>
                          </a:rPr>
                          <m:t>group</m:t>
                        </m:r>
                        <m:r>
                          <a:rPr lang="en-US" sz="1400" b="0" i="1" smtClean="0">
                            <a:highlight>
                              <a:srgbClr val="00FFFF"/>
                            </a:highlight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endParaRPr lang="en-US" sz="1400" dirty="0"/>
              </a:p>
            </p:txBody>
          </p:sp>
        </mc:Choice>
        <mc:Fallback xmlns=""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9B4CE77C-C6EF-9BA7-71AF-AD58EEE62E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9877" y="6423927"/>
                <a:ext cx="1301190" cy="215444"/>
              </a:xfrm>
              <a:prstGeom prst="rect">
                <a:avLst/>
              </a:prstGeom>
              <a:blipFill>
                <a:blip r:embed="rId19"/>
                <a:stretch>
                  <a:fillRect l="-8411" t="-25714" b="-514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9" name="TextBox 68">
            <a:extLst>
              <a:ext uri="{FF2B5EF4-FFF2-40B4-BE49-F238E27FC236}">
                <a16:creationId xmlns:a16="http://schemas.microsoft.com/office/drawing/2014/main" id="{434A7925-874E-9DBE-10AD-FAB587BB9B3C}"/>
              </a:ext>
            </a:extLst>
          </p:cNvPr>
          <p:cNvSpPr txBox="1"/>
          <p:nvPr/>
        </p:nvSpPr>
        <p:spPr>
          <a:xfrm>
            <a:off x="4256408" y="6413182"/>
            <a:ext cx="16109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Confidence = 0.7</a:t>
            </a:r>
          </a:p>
        </p:txBody>
      </p: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9F9FB6CD-AE56-F5C5-781E-D9E1B3EF52FB}"/>
              </a:ext>
            </a:extLst>
          </p:cNvPr>
          <p:cNvCxnSpPr>
            <a:cxnSpLocks/>
          </p:cNvCxnSpPr>
          <p:nvPr/>
        </p:nvCxnSpPr>
        <p:spPr>
          <a:xfrm>
            <a:off x="920827" y="5048823"/>
            <a:ext cx="48387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6A71DF7E-60FF-DDD9-F1D1-41F74D84C4C2}"/>
                  </a:ext>
                </a:extLst>
              </p:cNvPr>
              <p:cNvSpPr txBox="1"/>
              <p:nvPr/>
            </p:nvSpPr>
            <p:spPr>
              <a:xfrm>
                <a:off x="7387908" y="1697604"/>
                <a:ext cx="2720424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sz="1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1400" b="0" i="1" smtClean="0">
                              <a:highlight>
                                <a:srgbClr val="00FFFF"/>
                              </a:highlight>
                              <a:latin typeface="Cambria Math" panose="02040503050406030204" pitchFamily="18" charset="0"/>
                            </a:rPr>
                            <m:t>User</m:t>
                          </m:r>
                          <m:r>
                            <a:rPr lang="en-US" sz="1400" b="0" i="1" smtClean="0">
                              <a:highlight>
                                <a:srgbClr val="00FFFF"/>
                              </a:highlight>
                              <a:latin typeface="Cambria Math" panose="02040503050406030204" pitchFamily="18" charset="0"/>
                            </a:rPr>
                            <m:t>_</m:t>
                          </m:r>
                          <m:r>
                            <m:rPr>
                              <m:sty m:val="p"/>
                            </m:rPr>
                            <a:rPr lang="en-US" sz="1400" b="0" i="1" smtClean="0">
                              <a:highlight>
                                <a:srgbClr val="00FFFF"/>
                              </a:highlight>
                              <a:latin typeface="Cambria Math" panose="02040503050406030204" pitchFamily="18" charset="0"/>
                            </a:rPr>
                            <m:t>group</m:t>
                          </m:r>
                          <m:r>
                            <a:rPr lang="en-US" sz="1400" b="0" i="1" smtClean="0">
                              <a:highlight>
                                <a:srgbClr val="00FFFF"/>
                              </a:highlight>
                              <a:latin typeface="Cambria Math" panose="02040503050406030204" pitchFamily="18" charset="0"/>
                            </a:rPr>
                            <m:t>2, </m:t>
                          </m:r>
                          <m:r>
                            <m:rPr>
                              <m:sty m:val="p"/>
                            </m:rP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Item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1, </m:t>
                          </m:r>
                          <m:r>
                            <m:rPr>
                              <m:sty m:val="p"/>
                            </m:rPr>
                            <a:rPr lang="en-US" sz="1400" b="0" i="1" smtClean="0">
                              <a:highlight>
                                <a:srgbClr val="FFFF00"/>
                              </a:highlight>
                              <a:latin typeface="Cambria Math" panose="02040503050406030204" pitchFamily="18" charset="0"/>
                            </a:rPr>
                            <m:t>Item</m:t>
                          </m:r>
                          <m:r>
                            <a:rPr lang="en-US" sz="1400" b="0" i="1" smtClean="0">
                              <a:highlight>
                                <a:srgbClr val="FFFF00"/>
                              </a:highlight>
                              <a:latin typeface="Cambria Math" panose="02040503050406030204" pitchFamily="18" charset="0"/>
                            </a:rPr>
                            <m:t>_</m:t>
                          </m:r>
                          <m:r>
                            <m:rPr>
                              <m:sty m:val="p"/>
                            </m:rPr>
                            <a:rPr lang="en-US" sz="1400" b="0" i="1" smtClean="0">
                              <a:highlight>
                                <a:srgbClr val="FFFF00"/>
                              </a:highlight>
                              <a:latin typeface="Cambria Math" panose="02040503050406030204" pitchFamily="18" charset="0"/>
                            </a:rPr>
                            <m:t>group</m:t>
                          </m:r>
                          <m:r>
                            <a:rPr lang="en-US" sz="1400" b="0" i="1" smtClean="0">
                              <a:highlight>
                                <a:srgbClr val="FFFF00"/>
                              </a:highlight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6A71DF7E-60FF-DDD9-F1D1-41F74D84C4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87908" y="1697604"/>
                <a:ext cx="2720424" cy="215444"/>
              </a:xfrm>
              <a:prstGeom prst="rect">
                <a:avLst/>
              </a:prstGeom>
              <a:blipFill>
                <a:blip r:embed="rId20"/>
                <a:stretch>
                  <a:fillRect b="-277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919EDE2D-1D17-D257-A651-2433920AFB94}"/>
                  </a:ext>
                </a:extLst>
              </p:cNvPr>
              <p:cNvSpPr txBox="1"/>
              <p:nvPr/>
            </p:nvSpPr>
            <p:spPr>
              <a:xfrm>
                <a:off x="7387908" y="1978555"/>
                <a:ext cx="1153714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sz="1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1400" b="0" i="1" smtClean="0">
                              <a:highlight>
                                <a:srgbClr val="00FFFF"/>
                              </a:highlight>
                              <a:latin typeface="Cambria Math" panose="02040503050406030204" pitchFamily="18" charset="0"/>
                            </a:rPr>
                            <m:t>User</m:t>
                          </m:r>
                          <m:r>
                            <a:rPr lang="en-US" sz="1400" b="0" i="1" smtClean="0">
                              <a:highlight>
                                <a:srgbClr val="00FFFF"/>
                              </a:highlight>
                              <a:latin typeface="Cambria Math" panose="02040503050406030204" pitchFamily="18" charset="0"/>
                            </a:rPr>
                            <m:t>_</m:t>
                          </m:r>
                          <m:r>
                            <m:rPr>
                              <m:sty m:val="p"/>
                            </m:rPr>
                            <a:rPr lang="en-US" sz="1400" b="0" i="1" smtClean="0">
                              <a:highlight>
                                <a:srgbClr val="00FFFF"/>
                              </a:highlight>
                              <a:latin typeface="Cambria Math" panose="02040503050406030204" pitchFamily="18" charset="0"/>
                            </a:rPr>
                            <m:t>group</m:t>
                          </m:r>
                          <m:r>
                            <a:rPr lang="en-US" sz="1400" b="0" i="1" smtClean="0">
                              <a:highlight>
                                <a:srgbClr val="00FFFF"/>
                              </a:highlight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919EDE2D-1D17-D257-A651-2433920AFB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87908" y="1978555"/>
                <a:ext cx="1153714" cy="215444"/>
              </a:xfrm>
              <a:prstGeom prst="rect">
                <a:avLst/>
              </a:prstGeom>
              <a:blipFill>
                <a:blip r:embed="rId21"/>
                <a:stretch>
                  <a:fillRect b="-314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5B58C556-9E78-03B1-07D9-F26938BCF8F1}"/>
                  </a:ext>
                </a:extLst>
              </p:cNvPr>
              <p:cNvSpPr txBox="1"/>
              <p:nvPr/>
            </p:nvSpPr>
            <p:spPr>
              <a:xfrm>
                <a:off x="7387908" y="2299779"/>
                <a:ext cx="2720424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sz="1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1400" b="0" i="1" smtClean="0">
                              <a:highlight>
                                <a:srgbClr val="00FFFF"/>
                              </a:highlight>
                              <a:latin typeface="Cambria Math" panose="02040503050406030204" pitchFamily="18" charset="0"/>
                            </a:rPr>
                            <m:t>User</m:t>
                          </m:r>
                          <m:r>
                            <a:rPr lang="en-US" sz="1400" b="0" i="1" smtClean="0">
                              <a:highlight>
                                <a:srgbClr val="00FFFF"/>
                              </a:highlight>
                              <a:latin typeface="Cambria Math" panose="02040503050406030204" pitchFamily="18" charset="0"/>
                            </a:rPr>
                            <m:t>_</m:t>
                          </m:r>
                          <m:r>
                            <m:rPr>
                              <m:sty m:val="p"/>
                            </m:rPr>
                            <a:rPr lang="en-US" sz="1400" b="0" i="1" smtClean="0">
                              <a:highlight>
                                <a:srgbClr val="00FFFF"/>
                              </a:highlight>
                              <a:latin typeface="Cambria Math" panose="02040503050406030204" pitchFamily="18" charset="0"/>
                            </a:rPr>
                            <m:t>group</m:t>
                          </m:r>
                          <m:r>
                            <a:rPr lang="en-US" sz="1400" b="0" i="1" smtClean="0">
                              <a:highlight>
                                <a:srgbClr val="00FFFF"/>
                              </a:highlight>
                              <a:latin typeface="Cambria Math" panose="02040503050406030204" pitchFamily="18" charset="0"/>
                            </a:rPr>
                            <m:t>1,</m:t>
                          </m:r>
                          <m:r>
                            <m:rPr>
                              <m:sty m:val="p"/>
                            </m:rP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Item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2, </m:t>
                          </m:r>
                          <m:r>
                            <m:rPr>
                              <m:sty m:val="p"/>
                            </m:rPr>
                            <a:rPr lang="en-US" sz="1400" b="0" i="1" smtClean="0">
                              <a:highlight>
                                <a:srgbClr val="FFFF00"/>
                              </a:highlight>
                              <a:latin typeface="Cambria Math" panose="02040503050406030204" pitchFamily="18" charset="0"/>
                            </a:rPr>
                            <m:t>Item</m:t>
                          </m:r>
                          <m:r>
                            <a:rPr lang="en-US" sz="1400" b="0" i="1" smtClean="0">
                              <a:highlight>
                                <a:srgbClr val="FFFF00"/>
                              </a:highlight>
                              <a:latin typeface="Cambria Math" panose="02040503050406030204" pitchFamily="18" charset="0"/>
                            </a:rPr>
                            <m:t>_</m:t>
                          </m:r>
                          <m:r>
                            <m:rPr>
                              <m:sty m:val="p"/>
                            </m:rPr>
                            <a:rPr lang="en-US" sz="1400" b="0" i="1" smtClean="0">
                              <a:highlight>
                                <a:srgbClr val="FFFF00"/>
                              </a:highlight>
                              <a:latin typeface="Cambria Math" panose="02040503050406030204" pitchFamily="18" charset="0"/>
                            </a:rPr>
                            <m:t>group</m:t>
                          </m:r>
                          <m:r>
                            <a:rPr lang="en-US" sz="1400" b="0" i="1" smtClean="0">
                              <a:highlight>
                                <a:srgbClr val="FFFF00"/>
                              </a:highlight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5B58C556-9E78-03B1-07D9-F26938BCF8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87908" y="2299779"/>
                <a:ext cx="2720424" cy="215444"/>
              </a:xfrm>
              <a:prstGeom prst="rect">
                <a:avLst/>
              </a:prstGeom>
              <a:blipFill>
                <a:blip r:embed="rId22"/>
                <a:stretch>
                  <a:fillRect b="-277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4" name="TextBox 73">
            <a:extLst>
              <a:ext uri="{FF2B5EF4-FFF2-40B4-BE49-F238E27FC236}">
                <a16:creationId xmlns:a16="http://schemas.microsoft.com/office/drawing/2014/main" id="{D782AE98-F7DF-83F3-AFEE-7C773958A5AA}"/>
              </a:ext>
            </a:extLst>
          </p:cNvPr>
          <p:cNvSpPr txBox="1"/>
          <p:nvPr/>
        </p:nvSpPr>
        <p:spPr>
          <a:xfrm>
            <a:off x="8561776" y="1985295"/>
            <a:ext cx="120612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EE0000"/>
                </a:solidFill>
              </a:rPr>
              <a:t>Cold start user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2E0BCCEC-90C8-D5ED-8713-ED5778F7EDB1}"/>
              </a:ext>
            </a:extLst>
          </p:cNvPr>
          <p:cNvSpPr txBox="1"/>
          <p:nvPr/>
        </p:nvSpPr>
        <p:spPr>
          <a:xfrm>
            <a:off x="6322612" y="1348798"/>
            <a:ext cx="481214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/>
              <a:t>5. Map Rules: Map rules back to users.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0BB4B960-8723-9386-B198-D03E9F4A6501}"/>
              </a:ext>
            </a:extLst>
          </p:cNvPr>
          <p:cNvSpPr txBox="1"/>
          <p:nvPr/>
        </p:nvSpPr>
        <p:spPr>
          <a:xfrm>
            <a:off x="6685349" y="1666193"/>
            <a:ext cx="103777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User 1: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72BB1A56-23EB-9499-1D58-CD7A0F9F781C}"/>
              </a:ext>
            </a:extLst>
          </p:cNvPr>
          <p:cNvSpPr txBox="1"/>
          <p:nvPr/>
        </p:nvSpPr>
        <p:spPr>
          <a:xfrm>
            <a:off x="6677476" y="1947144"/>
            <a:ext cx="103777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User 2: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78BCAC8B-5D6A-F491-B5F9-72921BFD81E8}"/>
              </a:ext>
            </a:extLst>
          </p:cNvPr>
          <p:cNvSpPr txBox="1"/>
          <p:nvPr/>
        </p:nvSpPr>
        <p:spPr>
          <a:xfrm>
            <a:off x="6685349" y="2268368"/>
            <a:ext cx="103777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User 3: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00C150A5-2339-9C0C-C630-09A1341EA311}"/>
                  </a:ext>
                </a:extLst>
              </p:cNvPr>
              <p:cNvSpPr txBox="1"/>
              <p:nvPr/>
            </p:nvSpPr>
            <p:spPr>
              <a:xfrm>
                <a:off x="10100716" y="1660554"/>
                <a:ext cx="1538098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400" i="1">
                        <a:latin typeface="Cambria Math" panose="02040503050406030204" pitchFamily="18" charset="0"/>
                      </a:rPr>
                      <m:t>→ </m:t>
                    </m:r>
                  </m:oMath>
                </a14:m>
                <a:r>
                  <a:rPr lang="en-US" sz="1400" dirty="0"/>
                  <a:t>Rule: 1, 2</a:t>
                </a:r>
              </a:p>
            </p:txBody>
          </p:sp>
        </mc:Choice>
        <mc:Fallback xmlns=""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00C150A5-2339-9C0C-C630-09A1341EA3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00716" y="1660554"/>
                <a:ext cx="1538098" cy="307777"/>
              </a:xfrm>
              <a:prstGeom prst="rect">
                <a:avLst/>
              </a:prstGeom>
              <a:blipFill>
                <a:blip r:embed="rId23"/>
                <a:stretch>
                  <a:fillRect t="-1961" b="-196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C5902394-E528-38D2-D1DD-98FE1124E804}"/>
                  </a:ext>
                </a:extLst>
              </p:cNvPr>
              <p:cNvSpPr txBox="1"/>
              <p:nvPr/>
            </p:nvSpPr>
            <p:spPr>
              <a:xfrm>
                <a:off x="10112419" y="1961998"/>
                <a:ext cx="1062468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400" i="1">
                        <a:latin typeface="Cambria Math" panose="02040503050406030204" pitchFamily="18" charset="0"/>
                      </a:rPr>
                      <m:t>→ </m:t>
                    </m:r>
                  </m:oMath>
                </a14:m>
                <a:r>
                  <a:rPr lang="en-US" sz="1400" dirty="0"/>
                  <a:t>Rule: 4</a:t>
                </a:r>
              </a:p>
            </p:txBody>
          </p:sp>
        </mc:Choice>
        <mc:Fallback xmlns=""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C5902394-E528-38D2-D1DD-98FE1124E8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12419" y="1961998"/>
                <a:ext cx="1062468" cy="307777"/>
              </a:xfrm>
              <a:prstGeom prst="rect">
                <a:avLst/>
              </a:prstGeom>
              <a:blipFill>
                <a:blip r:embed="rId24"/>
                <a:stretch>
                  <a:fillRect t="-4000" b="-2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1" name="TextBox 80">
                <a:extLst>
                  <a:ext uri="{FF2B5EF4-FFF2-40B4-BE49-F238E27FC236}">
                    <a16:creationId xmlns:a16="http://schemas.microsoft.com/office/drawing/2014/main" id="{4ABF7C12-A109-2599-AB15-2BF7A3EADE31}"/>
                  </a:ext>
                </a:extLst>
              </p:cNvPr>
              <p:cNvSpPr txBox="1"/>
              <p:nvPr/>
            </p:nvSpPr>
            <p:spPr>
              <a:xfrm>
                <a:off x="10112417" y="2268368"/>
                <a:ext cx="1417976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400" i="1">
                        <a:latin typeface="Cambria Math" panose="02040503050406030204" pitchFamily="18" charset="0"/>
                      </a:rPr>
                      <m:t>→ </m:t>
                    </m:r>
                  </m:oMath>
                </a14:m>
                <a:r>
                  <a:rPr lang="en-US" sz="1400" dirty="0"/>
                  <a:t>Rule: 1,3, 4</a:t>
                </a:r>
              </a:p>
            </p:txBody>
          </p:sp>
        </mc:Choice>
        <mc:Fallback xmlns="">
          <p:sp>
            <p:nvSpPr>
              <p:cNvPr id="81" name="TextBox 80">
                <a:extLst>
                  <a:ext uri="{FF2B5EF4-FFF2-40B4-BE49-F238E27FC236}">
                    <a16:creationId xmlns:a16="http://schemas.microsoft.com/office/drawing/2014/main" id="{4ABF7C12-A109-2599-AB15-2BF7A3EADE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12417" y="2268368"/>
                <a:ext cx="1417976" cy="307777"/>
              </a:xfrm>
              <a:prstGeom prst="rect">
                <a:avLst/>
              </a:prstGeom>
              <a:blipFill>
                <a:blip r:embed="rId25"/>
                <a:stretch>
                  <a:fillRect t="-3922" b="-196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2" name="TextBox 81">
            <a:extLst>
              <a:ext uri="{FF2B5EF4-FFF2-40B4-BE49-F238E27FC236}">
                <a16:creationId xmlns:a16="http://schemas.microsoft.com/office/drawing/2014/main" id="{D6ABDBF9-ACFE-7E1B-F90C-DDCACD3B05B3}"/>
              </a:ext>
            </a:extLst>
          </p:cNvPr>
          <p:cNvSpPr txBox="1"/>
          <p:nvPr/>
        </p:nvSpPr>
        <p:spPr>
          <a:xfrm>
            <a:off x="1847497" y="4476513"/>
            <a:ext cx="120612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EE0000"/>
                </a:solidFill>
              </a:rPr>
              <a:t>Cold start user</a:t>
            </a:r>
          </a:p>
        </p:txBody>
      </p: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88CF9F01-1601-9CF3-F6FF-F48D8A7D55B2}"/>
              </a:ext>
            </a:extLst>
          </p:cNvPr>
          <p:cNvCxnSpPr>
            <a:cxnSpLocks/>
          </p:cNvCxnSpPr>
          <p:nvPr/>
        </p:nvCxnSpPr>
        <p:spPr>
          <a:xfrm>
            <a:off x="6279013" y="2689575"/>
            <a:ext cx="48387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5" name="TextBox 84">
            <a:extLst>
              <a:ext uri="{FF2B5EF4-FFF2-40B4-BE49-F238E27FC236}">
                <a16:creationId xmlns:a16="http://schemas.microsoft.com/office/drawing/2014/main" id="{F8406E96-3D94-7237-6977-AA4A17468611}"/>
              </a:ext>
            </a:extLst>
          </p:cNvPr>
          <p:cNvSpPr txBox="1"/>
          <p:nvPr/>
        </p:nvSpPr>
        <p:spPr>
          <a:xfrm>
            <a:off x="6322612" y="2770790"/>
            <a:ext cx="451783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/>
              <a:t>6. Create Signal Matrix: Build signal matrix.</a:t>
            </a:r>
            <a:endParaRPr lang="en-US" sz="1400" b="1" u="sn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6" name="TextBox 85">
                <a:extLst>
                  <a:ext uri="{FF2B5EF4-FFF2-40B4-BE49-F238E27FC236}">
                    <a16:creationId xmlns:a16="http://schemas.microsoft.com/office/drawing/2014/main" id="{E5FBE653-1224-AD4A-841C-EDD28764E400}"/>
                  </a:ext>
                </a:extLst>
              </p:cNvPr>
              <p:cNvSpPr txBox="1"/>
              <p:nvPr/>
            </p:nvSpPr>
            <p:spPr>
              <a:xfrm>
                <a:off x="6587016" y="3200620"/>
                <a:ext cx="2111347" cy="57772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1400" i="1" smtClean="0">
                          <a:latin typeface="Cambria Math" panose="02040503050406030204" pitchFamily="18" charset="0"/>
                        </a:rPr>
                        <m:t>M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4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0.5+0.3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0.6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0.6+0.7</m:t>
                                </m:r>
                              </m:e>
                              <m:e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0.5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86" name="TextBox 85">
                <a:extLst>
                  <a:ext uri="{FF2B5EF4-FFF2-40B4-BE49-F238E27FC236}">
                    <a16:creationId xmlns:a16="http://schemas.microsoft.com/office/drawing/2014/main" id="{E5FBE653-1224-AD4A-841C-EDD28764E4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87016" y="3200620"/>
                <a:ext cx="2111347" cy="577722"/>
              </a:xfrm>
              <a:prstGeom prst="rect">
                <a:avLst/>
              </a:prstGeom>
              <a:blipFill>
                <a:blip r:embed="rId2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A26708B5-DD17-47C6-908A-5E1C6DB55BE3}"/>
                  </a:ext>
                </a:extLst>
              </p:cNvPr>
              <p:cNvSpPr txBox="1"/>
              <p:nvPr/>
            </p:nvSpPr>
            <p:spPr>
              <a:xfrm>
                <a:off x="9070571" y="3188258"/>
                <a:ext cx="1660070" cy="56977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1400" i="1" smtClean="0">
                          <a:latin typeface="Cambria Math" panose="02040503050406030204" pitchFamily="18" charset="0"/>
                        </a:rPr>
                        <m:t>M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_</m:t>
                      </m:r>
                      <m:r>
                        <m:rPr>
                          <m:sty m:val="p"/>
                        </m:rPr>
                        <a:rPr lang="en-US" sz="1400" b="0" i="1" smtClean="0">
                          <a:latin typeface="Cambria Math" panose="02040503050406030204" pitchFamily="18" charset="0"/>
                        </a:rPr>
                        <m:t>norm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4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0.23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0.46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A26708B5-DD17-47C6-908A-5E1C6DB55B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70571" y="3188258"/>
                <a:ext cx="1660070" cy="569771"/>
              </a:xfrm>
              <a:prstGeom prst="rect">
                <a:avLst/>
              </a:prstGeom>
              <a:blipFill>
                <a:blip r:embed="rId27"/>
                <a:stretch>
                  <a:fillRect b="-10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4B29FFDB-6B21-F92A-72CB-0A014E1F4134}"/>
              </a:ext>
            </a:extLst>
          </p:cNvPr>
          <p:cNvCxnSpPr>
            <a:cxnSpLocks/>
          </p:cNvCxnSpPr>
          <p:nvPr/>
        </p:nvCxnSpPr>
        <p:spPr>
          <a:xfrm>
            <a:off x="6322612" y="3983684"/>
            <a:ext cx="48387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1" name="TextBox 90">
            <a:extLst>
              <a:ext uri="{FF2B5EF4-FFF2-40B4-BE49-F238E27FC236}">
                <a16:creationId xmlns:a16="http://schemas.microsoft.com/office/drawing/2014/main" id="{93A0FA81-5FBB-F87F-3D88-2DCD73BB4C54}"/>
              </a:ext>
            </a:extLst>
          </p:cNvPr>
          <p:cNvSpPr txBox="1"/>
          <p:nvPr/>
        </p:nvSpPr>
        <p:spPr>
          <a:xfrm>
            <a:off x="6326655" y="4098429"/>
            <a:ext cx="479105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/>
              <a:t>7. Formulate Loss Function: Define new loss function.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id="{7EA97F73-A074-1EB0-58A6-7F57FFA1956D}"/>
                  </a:ext>
                </a:extLst>
              </p:cNvPr>
              <p:cNvSpPr txBox="1"/>
              <p:nvPr/>
            </p:nvSpPr>
            <p:spPr>
              <a:xfrm>
                <a:off x="6704868" y="4444070"/>
                <a:ext cx="4611006" cy="52174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p>
                            <m:sSup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  <m:t>r</m:t>
                                      </m:r>
                                    </m:e>
                                    <m:sub>
                                      <m:r>
                                        <m:rPr>
                                          <m:sty m:val="p"/>
                                        </m:rP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  <m:t>ui</m:t>
                                      </m:r>
                                    </m:sub>
                                  </m:sSub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−(</m:t>
                                  </m:r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𝜇</m:t>
                                  </m:r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en-US" sz="1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𝑏</m:t>
                                      </m:r>
                                    </m:e>
                                    <m:sub>
                                      <m:r>
                                        <a:rPr lang="en-US" sz="1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en-US" sz="1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𝑏</m:t>
                                      </m:r>
                                    </m:e>
                                    <m:sub>
                                      <m:r>
                                        <a:rPr lang="en-US" sz="1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𝑢</m:t>
                                      </m:r>
                                    </m:sub>
                                  </m:sSub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+</m:t>
                                  </m:r>
                                  <m:sSubSup>
                                    <m:sSubSupPr>
                                      <m:ctrlPr>
                                        <a:rPr lang="en-US" sz="1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sz="1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𝑝</m:t>
                                      </m:r>
                                    </m:e>
                                    <m:sub>
                                      <m:r>
                                        <a:rPr lang="en-US" sz="1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𝑢</m:t>
                                      </m:r>
                                    </m:sub>
                                    <m:sup>
                                      <m:r>
                                        <a:rPr lang="en-US" sz="1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𝑇</m:t>
                                      </m:r>
                                    </m:sup>
                                  </m:sSubSup>
                                  <m:sSub>
                                    <m:sSubPr>
                                      <m:ctrlPr>
                                        <a:rPr lang="en-US" sz="1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𝑞</m:t>
                                      </m:r>
                                    </m:e>
                                    <m:sub>
                                      <m:r>
                                        <a:rPr lang="en-US" sz="1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en-US" sz="1400" i="1">
                                          <a:highlight>
                                            <a:srgbClr val="00FFFF"/>
                                          </a:highlight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400" i="1">
                                          <a:highlight>
                                            <a:srgbClr val="00FFFF"/>
                                          </a:highlight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𝛼</m:t>
                                      </m:r>
                                    </m:e>
                                    <m:sub>
                                      <m:r>
                                        <m:rPr>
                                          <m:sty m:val="p"/>
                                        </m:rPr>
                                        <a:rPr lang="en-US" sz="1400" i="1">
                                          <a:highlight>
                                            <a:srgbClr val="00FFFF"/>
                                          </a:highlight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u</m:t>
                                      </m:r>
                                    </m:sub>
                                  </m:sSub>
                                  <m:r>
                                    <a:rPr lang="en-US" sz="1400" i="1">
                                      <a:highlight>
                                        <a:srgbClr val="00FFFF"/>
                                      </a:highlight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∙</m:t>
                                  </m:r>
                                  <m:sSub>
                                    <m:sSubPr>
                                      <m:ctrlPr>
                                        <a:rPr lang="en-US" sz="1400" i="1">
                                          <a:highlight>
                                            <a:srgbClr val="00FFFF"/>
                                          </a:highlight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1400" i="1">
                                          <a:highlight>
                                            <a:srgbClr val="00FFFF"/>
                                          </a:highlight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m</m:t>
                                      </m:r>
                                    </m:e>
                                    <m:sub>
                                      <m:r>
                                        <m:rPr>
                                          <m:sty m:val="p"/>
                                        </m:rPr>
                                        <a:rPr lang="en-US" sz="1400" i="1">
                                          <a:highlight>
                                            <a:srgbClr val="00FFFF"/>
                                          </a:highlight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ui</m:t>
                                      </m:r>
                                    </m:sub>
                                  </m:sSub>
                                  <m:r>
                                    <a:rPr lang="en-US" sz="1400" i="1">
                                      <a:highlight>
                                        <a:srgbClr val="00FFFF"/>
                                      </a:highlight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𝜆</m:t>
                          </m:r>
                          <m:nary>
                            <m:naryPr>
                              <m:chr m:val="∑"/>
                              <m:subHide m:val="on"/>
                              <m:supHide m:val="on"/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r>
                                <m:rPr>
                                  <m:sty m:val="p"/>
                                </m:rPr>
                                <a:rPr lang="en-US" sz="1400" i="1">
                                  <a:latin typeface="Cambria Math" panose="02040503050406030204" pitchFamily="18" charset="0"/>
                                </a:rPr>
                                <m:t>Reg</m:t>
                              </m:r>
                              <m:d>
                                <m:d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</m:d>
                            </m:e>
                          </m:nary>
                        </m:e>
                      </m:nary>
                    </m:oMath>
                  </m:oMathPara>
                </a14:m>
                <a:endParaRPr lang="en-US" sz="1400" i="1" dirty="0">
                  <a:highlight>
                    <a:srgbClr val="00FFFF"/>
                  </a:highlight>
                </a:endParaRPr>
              </a:p>
            </p:txBody>
          </p:sp>
        </mc:Choice>
        <mc:Fallback xmlns=""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id="{7EA97F73-A074-1EB0-58A6-7F57FFA195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04868" y="4444070"/>
                <a:ext cx="4611006" cy="521746"/>
              </a:xfrm>
              <a:prstGeom prst="rect">
                <a:avLst/>
              </a:prstGeom>
              <a:blipFill>
                <a:blip r:embed="rId28"/>
                <a:stretch>
                  <a:fillRect l="-12302" t="-144186" r="-13889" b="-2046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4" name="Straight Connector 93">
            <a:extLst>
              <a:ext uri="{FF2B5EF4-FFF2-40B4-BE49-F238E27FC236}">
                <a16:creationId xmlns:a16="http://schemas.microsoft.com/office/drawing/2014/main" id="{B2EFB866-2CEE-2F60-E4FE-75C0D29C9DC9}"/>
              </a:ext>
            </a:extLst>
          </p:cNvPr>
          <p:cNvCxnSpPr>
            <a:cxnSpLocks/>
          </p:cNvCxnSpPr>
          <p:nvPr/>
        </p:nvCxnSpPr>
        <p:spPr>
          <a:xfrm>
            <a:off x="6322612" y="5075628"/>
            <a:ext cx="48387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5" name="TextBox 94">
            <a:extLst>
              <a:ext uri="{FF2B5EF4-FFF2-40B4-BE49-F238E27FC236}">
                <a16:creationId xmlns:a16="http://schemas.microsoft.com/office/drawing/2014/main" id="{F20400C5-F59C-5A75-0465-F54AF9BA30EC}"/>
              </a:ext>
            </a:extLst>
          </p:cNvPr>
          <p:cNvSpPr txBox="1"/>
          <p:nvPr/>
        </p:nvSpPr>
        <p:spPr>
          <a:xfrm>
            <a:off x="6322611" y="5201425"/>
            <a:ext cx="503118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/>
              <a:t>8. Solve &amp; Predict: Solve parameters and make predictions.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9" name="TextBox 98">
                <a:extLst>
                  <a:ext uri="{FF2B5EF4-FFF2-40B4-BE49-F238E27FC236}">
                    <a16:creationId xmlns:a16="http://schemas.microsoft.com/office/drawing/2014/main" id="{42E36336-C522-CFC3-5E69-5F4572F7871E}"/>
                  </a:ext>
                </a:extLst>
              </p:cNvPr>
              <p:cNvSpPr txBox="1"/>
              <p:nvPr/>
            </p:nvSpPr>
            <p:spPr>
              <a:xfrm>
                <a:off x="6764692" y="5593423"/>
                <a:ext cx="2400146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l-GR" sz="1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𝜇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𝑢</m:t>
                          </m:r>
                        </m:sub>
                      </m:sSub>
                      <m:r>
                        <a:rPr lang="en-US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sz="1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sub>
                      </m:sSub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sz="1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𝑢</m:t>
                          </m:r>
                        </m:sub>
                      </m:sSub>
                    </m:oMath>
                  </m:oMathPara>
                </a14:m>
                <a:endParaRPr lang="en-US" sz="1400" i="1" dirty="0"/>
              </a:p>
            </p:txBody>
          </p:sp>
        </mc:Choice>
        <mc:Fallback xmlns="">
          <p:sp>
            <p:nvSpPr>
              <p:cNvPr id="99" name="TextBox 98">
                <a:extLst>
                  <a:ext uri="{FF2B5EF4-FFF2-40B4-BE49-F238E27FC236}">
                    <a16:creationId xmlns:a16="http://schemas.microsoft.com/office/drawing/2014/main" id="{42E36336-C522-CFC3-5E69-5F4572F787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64692" y="5593423"/>
                <a:ext cx="2400146" cy="307777"/>
              </a:xfrm>
              <a:prstGeom prst="rect">
                <a:avLst/>
              </a:prstGeom>
              <a:blipFill>
                <a:blip r:embed="rId29"/>
                <a:stretch>
                  <a:fillRect b="-2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507554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A4DE65-2B25-2ACF-8DFF-49BBAE9F61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66FA4BCB-292C-C16C-CCDB-3E734C6AE7BA}"/>
              </a:ext>
            </a:extLst>
          </p:cNvPr>
          <p:cNvSpPr txBox="1">
            <a:spLocks/>
          </p:cNvSpPr>
          <p:nvPr/>
        </p:nvSpPr>
        <p:spPr>
          <a:xfrm>
            <a:off x="838200" y="343190"/>
            <a:ext cx="10515600" cy="6324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dirty="0"/>
              <a:t>CARMS-MF: Preliminary Results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D55B277-8EBA-D3FC-6FDB-CD3614ED7B8C}"/>
              </a:ext>
            </a:extLst>
          </p:cNvPr>
          <p:cNvCxnSpPr/>
          <p:nvPr/>
        </p:nvCxnSpPr>
        <p:spPr>
          <a:xfrm>
            <a:off x="838200" y="1047750"/>
            <a:ext cx="9972675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2" name="Picture 1">
            <a:extLst>
              <a:ext uri="{FF2B5EF4-FFF2-40B4-BE49-F238E27FC236}">
                <a16:creationId xmlns:a16="http://schemas.microsoft.com/office/drawing/2014/main" id="{16C2A6F5-5E3E-84EE-2F7E-CD85701E4E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521037"/>
            <a:ext cx="9972674" cy="16655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59557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A69CE0-2A59-9888-7DD5-447BED289D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0B3337D2-FD32-C750-5F1D-7E05C5F2F0D7}"/>
              </a:ext>
            </a:extLst>
          </p:cNvPr>
          <p:cNvSpPr txBox="1">
            <a:spLocks/>
          </p:cNvSpPr>
          <p:nvPr/>
        </p:nvSpPr>
        <p:spPr>
          <a:xfrm>
            <a:off x="838200" y="343190"/>
            <a:ext cx="10515600" cy="6324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dirty="0"/>
              <a:t>Timeline &amp; Next Steps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09BCD4F-0E49-B382-E260-0BF89AF76581}"/>
              </a:ext>
            </a:extLst>
          </p:cNvPr>
          <p:cNvCxnSpPr/>
          <p:nvPr/>
        </p:nvCxnSpPr>
        <p:spPr>
          <a:xfrm>
            <a:off x="838200" y="1047750"/>
            <a:ext cx="9972675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276C2FE3-54E8-B231-78B0-3E887F173F5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37511049"/>
              </p:ext>
            </p:extLst>
          </p:nvPr>
        </p:nvGraphicFramePr>
        <p:xfrm>
          <a:off x="988290" y="1431636"/>
          <a:ext cx="10076874" cy="4987637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997528">
                  <a:extLst>
                    <a:ext uri="{9D8B030D-6E8A-4147-A177-3AD203B41FA5}">
                      <a16:colId xmlns:a16="http://schemas.microsoft.com/office/drawing/2014/main" val="3063823346"/>
                    </a:ext>
                  </a:extLst>
                </a:gridCol>
                <a:gridCol w="7407564">
                  <a:extLst>
                    <a:ext uri="{9D8B030D-6E8A-4147-A177-3AD203B41FA5}">
                      <a16:colId xmlns:a16="http://schemas.microsoft.com/office/drawing/2014/main" val="2196687617"/>
                    </a:ext>
                  </a:extLst>
                </a:gridCol>
                <a:gridCol w="1671782">
                  <a:extLst>
                    <a:ext uri="{9D8B030D-6E8A-4147-A177-3AD203B41FA5}">
                      <a16:colId xmlns:a16="http://schemas.microsoft.com/office/drawing/2014/main" val="408564541"/>
                    </a:ext>
                  </a:extLst>
                </a:gridCol>
              </a:tblGrid>
              <a:tr h="48955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No</a:t>
                      </a:r>
                    </a:p>
                  </a:txBody>
                  <a:tcPr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Task</a:t>
                      </a:r>
                    </a:p>
                  </a:txBody>
                  <a:tcPr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Due date</a:t>
                      </a:r>
                    </a:p>
                  </a:txBody>
                  <a:tcPr anchor="ctr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8753248"/>
                  </a:ext>
                </a:extLst>
              </a:tr>
              <a:tr h="74968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highlight>
                            <a:srgbClr val="FFFF00"/>
                          </a:highlight>
                        </a:rPr>
                        <a:t>1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highlight>
                            <a:srgbClr val="FFFF00"/>
                          </a:highlight>
                        </a:rPr>
                        <a:t>Monthly progress updates with KBTG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highlight>
                            <a:srgbClr val="FFFF00"/>
                          </a:highlight>
                        </a:rPr>
                        <a:t>8 Nov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0462353"/>
                  </a:ext>
                </a:extLst>
              </a:tr>
              <a:tr h="74968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highlight>
                            <a:srgbClr val="FFFF00"/>
                          </a:highlight>
                        </a:rPr>
                        <a:t>2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highlight>
                            <a:srgbClr val="FFFF00"/>
                          </a:highlight>
                        </a:rPr>
                        <a:t>Update thesis progress report for KMITL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highlight>
                            <a:srgbClr val="FFFF00"/>
                          </a:highlight>
                        </a:rPr>
                        <a:t>8 Nov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4461669"/>
                  </a:ext>
                </a:extLst>
              </a:tr>
              <a:tr h="74968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highlight>
                            <a:srgbClr val="FFFF00"/>
                          </a:highlight>
                        </a:rPr>
                        <a:t>3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highlight>
                            <a:srgbClr val="FFFF00"/>
                          </a:highlight>
                        </a:rPr>
                        <a:t>Finalize implementation and experiment scripts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highlight>
                            <a:srgbClr val="FFFF00"/>
                          </a:highlight>
                        </a:rPr>
                        <a:t>8 Nov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24968271"/>
                  </a:ext>
                </a:extLst>
              </a:tr>
              <a:tr h="74968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highlight>
                            <a:srgbClr val="FFFF00"/>
                          </a:highlight>
                        </a:rPr>
                        <a:t>4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highlight>
                            <a:srgbClr val="FFFF00"/>
                          </a:highlight>
                        </a:rPr>
                        <a:t>Complete writing for Chapters 1-4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highlight>
                            <a:srgbClr val="FFFF00"/>
                          </a:highlight>
                        </a:rPr>
                        <a:t>22 Nov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2797137"/>
                  </a:ext>
                </a:extLst>
              </a:tr>
              <a:tr h="74968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Discussions with advisor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29 Nov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960164"/>
                  </a:ext>
                </a:extLst>
              </a:tr>
              <a:tr h="74968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Prepare for proposal defense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End of 2025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753932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169665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1197</TotalTime>
  <Words>959</Words>
  <Application>Microsoft Office PowerPoint</Application>
  <PresentationFormat>Widescreen</PresentationFormat>
  <Paragraphs>154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Aptos</vt:lpstr>
      <vt:lpstr>Aptos Display</vt:lpstr>
      <vt:lpstr>Arial</vt:lpstr>
      <vt:lpstr>Cambria Math</vt:lpstr>
      <vt:lpstr>Office Theme</vt:lpstr>
      <vt:lpstr>Reason for Topic Changing</vt:lpstr>
      <vt:lpstr>Recommendation Systems (RecSys): Identifying the Gaps</vt:lpstr>
      <vt:lpstr>Our Proposal: CARMS-MF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peerapat tancharoen</dc:creator>
  <cp:lastModifiedBy>peerapat tancharoen</cp:lastModifiedBy>
  <cp:revision>8</cp:revision>
  <dcterms:created xsi:type="dcterms:W3CDTF">2025-11-03T16:44:07Z</dcterms:created>
  <dcterms:modified xsi:type="dcterms:W3CDTF">2025-11-26T12:27:21Z</dcterms:modified>
</cp:coreProperties>
</file>