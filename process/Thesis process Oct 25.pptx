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1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6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4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17921-1CCF-387F-062A-0F37ADD74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439A90-E761-9244-9593-571C339AD7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11A2E-EAAD-7DE2-F885-B4E47247F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0073B-34F4-5A6B-E8A9-85119E08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99CF9F-B3EF-42E1-994E-3C8231CD8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13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E5DC0-25CA-C8CD-4666-242C482E6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C38456-6980-D0D9-4AF0-7016411F5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9CE7-E42F-97C3-175A-545CDCCA2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91767-FA90-C159-C556-08CCFF30B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2A76-EA01-0EA7-28C6-1A0D2FF71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688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A310-CB1C-D4CB-F178-8DE7B48AA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4044D1-3241-C58E-5743-3C288A6586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F27B21-6007-3ACE-8571-31D486313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A5527-7A88-BB00-CAE5-CEA3C4D06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2CE60-9FFA-BA34-1EAF-266971856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877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E3C8F-C6EF-5CD2-33C2-759C5BDA8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E047E-2994-1A39-944E-91FCF40AB6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300510-7F52-923C-14D0-C6FA3AE4CB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9AD34C-C5A1-B2AF-4FA6-B43846907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8FD072-B008-C71B-68AD-D959DB64C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34B7E0-8468-A07A-191E-497D83EDC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09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9833F-D6D9-C52B-28D1-FE208CB08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1B65C6-B443-7FC3-A5EE-F9CEF88987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F48969-053A-E5B7-03A7-0C4E93777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A684B6-B481-F3F5-B5E7-76F88C3D7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4BC840-76B8-B150-6C4D-55F2AD73C1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ADAE6E0-BD71-DD81-F0D9-EFC83FC9E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260D15-A620-D607-F68E-3A97BA9BD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8ECC0-FB55-321A-2A0F-D0432F5AC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66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95FB0-341C-8158-3D4C-27BD176C6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8B23C3-1D2D-47AA-1B9E-33BC56C1F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7E1208-4D02-28DF-E8BA-8C1B97D07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B9ED97-416D-EAD9-C3FC-AC15B8481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681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2BFE04-CB95-AA06-6BF5-1017852BD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4889B2-8686-884C-6DC5-24ACB616B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ADF3BE-A0DB-68D3-FE5A-D30734F0D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81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1CA40-1601-FE36-1E6B-A996901C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210300-AFB3-5C51-D478-8392551AB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2FD24-7A27-FDAB-5016-C61791F079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0AEF0-6E61-0EE5-5D54-88243D8FD2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41A2DF-8854-71C1-B7CA-3ED3FC5D5C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262C6F-943E-5ABF-AA37-560C9A5D8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312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9895-5C1A-5889-7CA5-29D14F145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A8F65-6EB4-0217-642A-AD3404C302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A4A312-9F3A-10FB-F828-885FE2F0E8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6D6867-9174-3A0E-2E88-4ABAC4A8E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0107A5-C023-1038-F351-6EBA23816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6F100-EA10-2474-8D0F-8501AABCA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092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7C1F0-5D76-70AC-DBC2-3FF6522BE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A50D0D-D9DB-583F-A619-73048AB3ED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E79C7-E776-E1E8-C7E6-61E6E07B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91E6B-3E21-36F3-3636-92FEBA9B0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3B7A3-7A8C-20EF-C66D-C44A2F330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598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CEF95-4F33-1745-C44F-D8B86D8E42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1BCFBD-C7AF-57F8-B7A5-D78C4D2F0C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BCD16A-6AAD-5905-0D3E-3CF808BAE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7CE2F9-D13B-CE6F-A66A-1614778B7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65E5E3-6FD2-3066-0F04-A773C3034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145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08CD95-93C4-E37F-C48A-6B89152FC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7AC3E7-15E2-A9D1-6046-1884BC71E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14D4DE-E126-D418-DE94-D024A42013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14EEA1-0756-44A4-9F61-3441AD54A9C3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6CDE1-0FE6-64E3-3056-BD77E6ECA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B0AE9B-4CD4-8186-E325-A0096A2794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B48670-290F-47F3-852C-E4D9B207EF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1003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12" Type="http://schemas.openxmlformats.org/officeDocument/2006/relationships/image" Target="../media/image21.png"/><Relationship Id="rId17" Type="http://schemas.openxmlformats.org/officeDocument/2006/relationships/image" Target="../media/image230.png"/><Relationship Id="rId2" Type="http://schemas.openxmlformats.org/officeDocument/2006/relationships/image" Target="../media/image11.png"/><Relationship Id="rId16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Relationship Id="rId14" Type="http://schemas.openxmlformats.org/officeDocument/2006/relationships/image" Target="../media/image3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3E96033-E6E1-85B9-4703-035CC190FE6C}"/>
              </a:ext>
            </a:extLst>
          </p:cNvPr>
          <p:cNvSpPr txBox="1"/>
          <p:nvPr/>
        </p:nvSpPr>
        <p:spPr>
          <a:xfrm>
            <a:off x="580222" y="78757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1. Prepare the data by filling unknown ratings with zero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13F095-A706-1D88-98EA-41D298ED1943}"/>
                  </a:ext>
                </a:extLst>
              </p:cNvPr>
              <p:cNvSpPr txBox="1"/>
              <p:nvPr/>
            </p:nvSpPr>
            <p:spPr>
              <a:xfrm>
                <a:off x="1232033" y="1297464"/>
                <a:ext cx="1150763" cy="73263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>
                          <a:latin typeface="Cambria Math" panose="02040503050406030204" pitchFamily="18" charset="0"/>
                        </a:rPr>
                        <m:t>Y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713F095-A706-1D88-98EA-41D298ED19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2033" y="1297464"/>
                <a:ext cx="1150763" cy="73263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67D639-5749-66F8-0D61-0E2F504E337E}"/>
                  </a:ext>
                </a:extLst>
              </p:cNvPr>
              <p:cNvSpPr txBox="1"/>
              <p:nvPr/>
            </p:nvSpPr>
            <p:spPr>
              <a:xfrm>
                <a:off x="3429949" y="1428301"/>
                <a:ext cx="1628202" cy="4929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867D639-5749-66F8-0D61-0E2F504E33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949" y="1428301"/>
                <a:ext cx="1628202" cy="4929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1A82E4E1-9C44-D4BF-B4DA-5F97B1CD2CB6}"/>
              </a:ext>
            </a:extLst>
          </p:cNvPr>
          <p:cNvSpPr txBox="1"/>
          <p:nvPr/>
        </p:nvSpPr>
        <p:spPr>
          <a:xfrm>
            <a:off x="1370486" y="2072869"/>
            <a:ext cx="1317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User-item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19FD21-CA49-0268-9DC6-3CD181C723B5}"/>
              </a:ext>
            </a:extLst>
          </p:cNvPr>
          <p:cNvSpPr txBox="1"/>
          <p:nvPr/>
        </p:nvSpPr>
        <p:spPr>
          <a:xfrm>
            <a:off x="3896361" y="2066595"/>
            <a:ext cx="13174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Item-user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A8C4133-D454-B0D3-799E-8C6A20AB33E3}"/>
              </a:ext>
            </a:extLst>
          </p:cNvPr>
          <p:cNvSpPr txBox="1"/>
          <p:nvPr/>
        </p:nvSpPr>
        <p:spPr>
          <a:xfrm>
            <a:off x="580221" y="4094685"/>
            <a:ext cx="7994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3. Combine the user clusters and item clusters into a "favorite transaction" set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0FF06B5-1E68-C18A-192C-B5DE1C26CA34}"/>
              </a:ext>
            </a:extLst>
          </p:cNvPr>
          <p:cNvSpPr txBox="1"/>
          <p:nvPr/>
        </p:nvSpPr>
        <p:spPr>
          <a:xfrm>
            <a:off x="900141" y="4677320"/>
            <a:ext cx="103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4268AB-01CA-259D-59E7-393F9F35EF0F}"/>
                  </a:ext>
                </a:extLst>
              </p:cNvPr>
              <p:cNvSpPr txBox="1"/>
              <p:nvPr/>
            </p:nvSpPr>
            <p:spPr>
              <a:xfrm>
                <a:off x="2131728" y="4719831"/>
                <a:ext cx="8119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4268AB-01CA-259D-59E7-393F9F35E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728" y="4719831"/>
                <a:ext cx="811954" cy="276999"/>
              </a:xfrm>
              <a:prstGeom prst="rect">
                <a:avLst/>
              </a:prstGeom>
              <a:blipFill>
                <a:blip r:embed="rId4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3EE2BD-6600-2604-EACF-A7C6A35B5DC9}"/>
                  </a:ext>
                </a:extLst>
              </p:cNvPr>
              <p:cNvSpPr txBox="1"/>
              <p:nvPr/>
            </p:nvSpPr>
            <p:spPr>
              <a:xfrm>
                <a:off x="4037230" y="4719831"/>
                <a:ext cx="35033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3EE2BD-6600-2604-EACF-A7C6A35B5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230" y="4719831"/>
                <a:ext cx="3503395" cy="276999"/>
              </a:xfrm>
              <a:prstGeom prst="rect">
                <a:avLst/>
              </a:prstGeom>
              <a:blipFill>
                <a:blip r:embed="rId5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C39E470B-E940-7493-EEE6-9B7487D73B0F}"/>
              </a:ext>
            </a:extLst>
          </p:cNvPr>
          <p:cNvSpPr txBox="1"/>
          <p:nvPr/>
        </p:nvSpPr>
        <p:spPr>
          <a:xfrm>
            <a:off x="900141" y="5079444"/>
            <a:ext cx="103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860B96-84C2-6A36-0235-9DC0DE1DAB2B}"/>
                  </a:ext>
                </a:extLst>
              </p:cNvPr>
              <p:cNvSpPr txBox="1"/>
              <p:nvPr/>
            </p:nvSpPr>
            <p:spPr>
              <a:xfrm>
                <a:off x="2131728" y="5121955"/>
                <a:ext cx="43685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3860B96-84C2-6A36-0235-9DC0DE1DA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728" y="5121955"/>
                <a:ext cx="436851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11213C-0F9E-5AB7-7BA9-9A8B2EDF2AE7}"/>
                  </a:ext>
                </a:extLst>
              </p:cNvPr>
              <p:cNvSpPr txBox="1"/>
              <p:nvPr/>
            </p:nvSpPr>
            <p:spPr>
              <a:xfrm>
                <a:off x="4037230" y="5121955"/>
                <a:ext cx="148361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311213C-0F9E-5AB7-7BA9-9A8B2EDF2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7230" y="5121955"/>
                <a:ext cx="1483611" cy="276999"/>
              </a:xfrm>
              <a:prstGeom prst="rect">
                <a:avLst/>
              </a:prstGeom>
              <a:blipFill>
                <a:blip r:embed="rId7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2A18DD02-323F-6CD0-7B14-ECD015EEF8AB}"/>
              </a:ext>
            </a:extLst>
          </p:cNvPr>
          <p:cNvSpPr txBox="1"/>
          <p:nvPr/>
        </p:nvSpPr>
        <p:spPr>
          <a:xfrm>
            <a:off x="900141" y="5481568"/>
            <a:ext cx="103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1CF454-006F-AD4E-07D4-D21AC894179E}"/>
                  </a:ext>
                </a:extLst>
              </p:cNvPr>
              <p:cNvSpPr txBox="1"/>
              <p:nvPr/>
            </p:nvSpPr>
            <p:spPr>
              <a:xfrm>
                <a:off x="2131728" y="5524079"/>
                <a:ext cx="81195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B91CF454-006F-AD4E-07D4-D21AC8941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1728" y="5524079"/>
                <a:ext cx="811954" cy="276999"/>
              </a:xfrm>
              <a:prstGeom prst="rect">
                <a:avLst/>
              </a:prstGeom>
              <a:blipFill>
                <a:blip r:embed="rId8"/>
                <a:stretch>
                  <a:fillRect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DE6DA7-7BF6-61CA-5051-8D5A4F58A89D}"/>
                  </a:ext>
                </a:extLst>
              </p:cNvPr>
              <p:cNvSpPr txBox="1"/>
              <p:nvPr/>
            </p:nvSpPr>
            <p:spPr>
              <a:xfrm>
                <a:off x="3991510" y="5526897"/>
                <a:ext cx="357873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99DE6DA7-7BF6-61CA-5051-8D5A4F58A8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510" y="5526897"/>
                <a:ext cx="3578736" cy="276999"/>
              </a:xfrm>
              <a:prstGeom prst="rect">
                <a:avLst/>
              </a:prstGeom>
              <a:blipFill>
                <a:blip r:embed="rId9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7D16D7A1-5BDD-370A-D14C-B0248D61CD6F}"/>
              </a:ext>
            </a:extLst>
          </p:cNvPr>
          <p:cNvSpPr txBox="1"/>
          <p:nvPr/>
        </p:nvSpPr>
        <p:spPr>
          <a:xfrm>
            <a:off x="2645980" y="5129988"/>
            <a:ext cx="1116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E0000"/>
                </a:solidFill>
              </a:rPr>
              <a:t>Cold start user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9B31B15-4511-BA2B-56E1-93361F3F34F6}"/>
                  </a:ext>
                </a:extLst>
              </p:cNvPr>
              <p:cNvSpPr txBox="1"/>
              <p:nvPr/>
            </p:nvSpPr>
            <p:spPr>
              <a:xfrm>
                <a:off x="866633" y="3154746"/>
                <a:ext cx="30297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gruop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9B31B15-4511-BA2B-56E1-93361F3F34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633" y="3154746"/>
                <a:ext cx="3029728" cy="276999"/>
              </a:xfrm>
              <a:prstGeom prst="rect">
                <a:avLst/>
              </a:prstGeom>
              <a:blipFill>
                <a:blip r:embed="rId10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>
            <a:extLst>
              <a:ext uri="{FF2B5EF4-FFF2-40B4-BE49-F238E27FC236}">
                <a16:creationId xmlns:a16="http://schemas.microsoft.com/office/drawing/2014/main" id="{8CB39242-4790-E94B-DDD0-873F0C702C6D}"/>
              </a:ext>
            </a:extLst>
          </p:cNvPr>
          <p:cNvSpPr txBox="1"/>
          <p:nvPr/>
        </p:nvSpPr>
        <p:spPr>
          <a:xfrm>
            <a:off x="580222" y="26425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2. Perform clustering on users and items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3EA776C-8879-A1D3-C336-48198860C2EB}"/>
              </a:ext>
            </a:extLst>
          </p:cNvPr>
          <p:cNvSpPr txBox="1"/>
          <p:nvPr/>
        </p:nvSpPr>
        <p:spPr>
          <a:xfrm>
            <a:off x="1135709" y="3510185"/>
            <a:ext cx="969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User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User 2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C8A3AAD-4DF9-4695-16D9-6B33D610E1E8}"/>
              </a:ext>
            </a:extLst>
          </p:cNvPr>
          <p:cNvSpPr txBox="1"/>
          <p:nvPr/>
        </p:nvSpPr>
        <p:spPr>
          <a:xfrm>
            <a:off x="2466619" y="3510185"/>
            <a:ext cx="969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Item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0D6EBAD-CEEC-3539-F8BA-65ADB89C1011}"/>
                  </a:ext>
                </a:extLst>
              </p:cNvPr>
              <p:cNvSpPr txBox="1"/>
              <p:nvPr/>
            </p:nvSpPr>
            <p:spPr>
              <a:xfrm>
                <a:off x="4005977" y="3153497"/>
                <a:ext cx="3029728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gruop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0D6EBAD-CEEC-3539-F8BA-65ADB89C10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5977" y="3153497"/>
                <a:ext cx="3029728" cy="276999"/>
              </a:xfrm>
              <a:prstGeom prst="rect">
                <a:avLst/>
              </a:prstGeom>
              <a:blipFill>
                <a:blip r:embed="rId11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61403CF4-EA2F-E26A-392A-9ED4326391FC}"/>
              </a:ext>
            </a:extLst>
          </p:cNvPr>
          <p:cNvSpPr txBox="1"/>
          <p:nvPr/>
        </p:nvSpPr>
        <p:spPr>
          <a:xfrm>
            <a:off x="4275053" y="3508936"/>
            <a:ext cx="969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Item 1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8395D56-A64F-6927-6B6D-529BD5E1C7A5}"/>
              </a:ext>
            </a:extLst>
          </p:cNvPr>
          <p:cNvSpPr txBox="1"/>
          <p:nvPr/>
        </p:nvSpPr>
        <p:spPr>
          <a:xfrm>
            <a:off x="5605963" y="3508936"/>
            <a:ext cx="969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/>
              <a:t>Item 2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FFC4D1-0797-44FF-7444-94F4951B5EEF}"/>
              </a:ext>
            </a:extLst>
          </p:cNvPr>
          <p:cNvSpPr txBox="1"/>
          <p:nvPr/>
        </p:nvSpPr>
        <p:spPr>
          <a:xfrm>
            <a:off x="7473199" y="3169011"/>
            <a:ext cx="35830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E0000"/>
                </a:solidFill>
              </a:rPr>
              <a:t>This stage still has room for improvement, such as the clustering algorithm and auto-clustering methods.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D06A68D-5738-8687-5B3C-0EF2A29DC626}"/>
              </a:ext>
            </a:extLst>
          </p:cNvPr>
          <p:cNvSpPr txBox="1"/>
          <p:nvPr/>
        </p:nvSpPr>
        <p:spPr>
          <a:xfrm>
            <a:off x="7708767" y="4923915"/>
            <a:ext cx="358309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E0000"/>
                </a:solidFill>
              </a:rPr>
              <a:t>This is how we solve the cold-start problem; when a cold-start user has a segment, we can create an item signal or a group of item signals for them.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8A1981E-F306-706A-B112-89C34CA503E1}"/>
              </a:ext>
            </a:extLst>
          </p:cNvPr>
          <p:cNvSpPr txBox="1"/>
          <p:nvPr/>
        </p:nvSpPr>
        <p:spPr>
          <a:xfrm>
            <a:off x="794362" y="6016116"/>
            <a:ext cx="29682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E0000"/>
                </a:solidFill>
              </a:rPr>
              <a:t>A "favorite transaction" contains items with a score greater than or equal to 80%.</a:t>
            </a:r>
          </a:p>
        </p:txBody>
      </p:sp>
    </p:spTree>
    <p:extLst>
      <p:ext uri="{BB962C8B-B14F-4D97-AF65-F5344CB8AC3E}">
        <p14:creationId xmlns:p14="http://schemas.microsoft.com/office/powerpoint/2010/main" val="2521845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4C03D-1D6B-D8B2-8C7A-6394A8281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8571B0-81BB-544C-8CF9-184E6CB41449}"/>
                  </a:ext>
                </a:extLst>
              </p:cNvPr>
              <p:cNvSpPr txBox="1"/>
              <p:nvPr/>
            </p:nvSpPr>
            <p:spPr>
              <a:xfrm>
                <a:off x="1900771" y="3577015"/>
                <a:ext cx="35033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28571B0-81BB-544C-8CF9-184E6CB41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771" y="3577015"/>
                <a:ext cx="3503395" cy="276999"/>
              </a:xfrm>
              <a:prstGeom prst="rect">
                <a:avLst/>
              </a:prstGeom>
              <a:blipFill>
                <a:blip r:embed="rId2"/>
                <a:stretch>
                  <a:fillRect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39FEA5-6B4C-6E73-DB53-D055CF52C602}"/>
                  </a:ext>
                </a:extLst>
              </p:cNvPr>
              <p:cNvSpPr txBox="1"/>
              <p:nvPr/>
            </p:nvSpPr>
            <p:spPr>
              <a:xfrm>
                <a:off x="3305074" y="1383952"/>
                <a:ext cx="174329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E939FEA5-6B4C-6E73-DB53-D055CF52C6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074" y="1383952"/>
                <a:ext cx="1743298" cy="276999"/>
              </a:xfrm>
              <a:prstGeom prst="rect">
                <a:avLst/>
              </a:prstGeom>
              <a:blipFill>
                <a:blip r:embed="rId3"/>
                <a:stretch>
                  <a:fillRect l="-1399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916328-EBBE-4663-B548-14F72530C95C}"/>
                  </a:ext>
                </a:extLst>
              </p:cNvPr>
              <p:cNvSpPr txBox="1"/>
              <p:nvPr/>
            </p:nvSpPr>
            <p:spPr>
              <a:xfrm>
                <a:off x="1857953" y="4044008"/>
                <a:ext cx="153490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916328-EBBE-4663-B548-14F72530C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57953" y="4044008"/>
                <a:ext cx="1534907" cy="276999"/>
              </a:xfrm>
              <a:prstGeom prst="rect">
                <a:avLst/>
              </a:prstGeom>
              <a:blipFill>
                <a:blip r:embed="rId4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FC10E0-CAC7-4E83-8E66-F74571A6B72E}"/>
                  </a:ext>
                </a:extLst>
              </p:cNvPr>
              <p:cNvSpPr txBox="1"/>
              <p:nvPr/>
            </p:nvSpPr>
            <p:spPr>
              <a:xfrm>
                <a:off x="1900771" y="4477318"/>
                <a:ext cx="35033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User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2, 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group</m:t>
                          </m:r>
                          <m:r>
                            <a:rPr lang="en-US" b="0" i="1" smtClean="0">
                              <a:highlight>
                                <a:srgbClr val="FFFF00"/>
                              </a:highlight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AFC10E0-CAC7-4E83-8E66-F74571A6B7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771" y="4477318"/>
                <a:ext cx="3503395" cy="276999"/>
              </a:xfrm>
              <a:prstGeom prst="rect">
                <a:avLst/>
              </a:prstGeom>
              <a:blipFill>
                <a:blip r:embed="rId5"/>
                <a:stretch>
                  <a:fillRect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A03A04A4-5679-7287-FE00-12E46FB00095}"/>
              </a:ext>
            </a:extLst>
          </p:cNvPr>
          <p:cNvSpPr txBox="1"/>
          <p:nvPr/>
        </p:nvSpPr>
        <p:spPr>
          <a:xfrm>
            <a:off x="5507475" y="1337785"/>
            <a:ext cx="325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Confidence = 0.5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25C162-C5C0-7EEE-9C96-FE4F479DCDA7}"/>
              </a:ext>
            </a:extLst>
          </p:cNvPr>
          <p:cNvSpPr txBox="1"/>
          <p:nvPr/>
        </p:nvSpPr>
        <p:spPr>
          <a:xfrm>
            <a:off x="5507474" y="1739909"/>
            <a:ext cx="325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Confidence = 0.3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AE4064B-571E-6460-F4CF-5859DC76975C}"/>
              </a:ext>
            </a:extLst>
          </p:cNvPr>
          <p:cNvSpPr txBox="1"/>
          <p:nvPr/>
        </p:nvSpPr>
        <p:spPr>
          <a:xfrm>
            <a:off x="5507473" y="2140903"/>
            <a:ext cx="325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Confidence = 0.6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1A54C3-5693-657B-C40C-74695053F97B}"/>
              </a:ext>
            </a:extLst>
          </p:cNvPr>
          <p:cNvSpPr txBox="1"/>
          <p:nvPr/>
        </p:nvSpPr>
        <p:spPr>
          <a:xfrm>
            <a:off x="3466585" y="4059397"/>
            <a:ext cx="12061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E0000"/>
                </a:solidFill>
              </a:rPr>
              <a:t>Cold start user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60B888-140F-0F90-99BD-D109887075AF}"/>
              </a:ext>
            </a:extLst>
          </p:cNvPr>
          <p:cNvSpPr txBox="1"/>
          <p:nvPr/>
        </p:nvSpPr>
        <p:spPr>
          <a:xfrm>
            <a:off x="580222" y="3059171"/>
            <a:ext cx="636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5. Map the resulting rules to each user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C8B490-B39A-BAAF-6B30-6E11D9043CC1}"/>
              </a:ext>
            </a:extLst>
          </p:cNvPr>
          <p:cNvSpPr txBox="1"/>
          <p:nvPr/>
        </p:nvSpPr>
        <p:spPr>
          <a:xfrm>
            <a:off x="7710542" y="1864323"/>
            <a:ext cx="391774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E0000"/>
                </a:solidFill>
              </a:rPr>
              <a:t>There are two popular association rule mining algorithms, </a:t>
            </a:r>
            <a:r>
              <a:rPr lang="en-US" sz="1100" dirty="0" err="1">
                <a:solidFill>
                  <a:srgbClr val="EE0000"/>
                </a:solidFill>
              </a:rPr>
              <a:t>Apriori</a:t>
            </a:r>
            <a:r>
              <a:rPr lang="en-US" sz="1100" dirty="0">
                <a:solidFill>
                  <a:srgbClr val="EE0000"/>
                </a:solidFill>
              </a:rPr>
              <a:t> and FP-growth, but </a:t>
            </a:r>
            <a:r>
              <a:rPr lang="en-US" sz="1100" dirty="0" err="1">
                <a:solidFill>
                  <a:srgbClr val="EE0000"/>
                </a:solidFill>
              </a:rPr>
              <a:t>Apriori</a:t>
            </a:r>
            <a:r>
              <a:rPr lang="en-US" sz="1100" dirty="0">
                <a:solidFill>
                  <a:srgbClr val="EE0000"/>
                </a:solidFill>
              </a:rPr>
              <a:t> is computationally expensive, so we use FP-growth instead.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2D42B6-134C-04D3-59D3-FFCC7A42B43F}"/>
              </a:ext>
            </a:extLst>
          </p:cNvPr>
          <p:cNvSpPr txBox="1"/>
          <p:nvPr/>
        </p:nvSpPr>
        <p:spPr>
          <a:xfrm>
            <a:off x="942959" y="3545604"/>
            <a:ext cx="103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1: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D54328-1489-BC04-F0AB-0DA8F0E92EFE}"/>
              </a:ext>
            </a:extLst>
          </p:cNvPr>
          <p:cNvSpPr txBox="1"/>
          <p:nvPr/>
        </p:nvSpPr>
        <p:spPr>
          <a:xfrm>
            <a:off x="935086" y="4012597"/>
            <a:ext cx="103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2: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23F0542-F07A-FDE1-A0CE-BBC34FCB1733}"/>
              </a:ext>
            </a:extLst>
          </p:cNvPr>
          <p:cNvSpPr txBox="1"/>
          <p:nvPr/>
        </p:nvSpPr>
        <p:spPr>
          <a:xfrm>
            <a:off x="942959" y="4445907"/>
            <a:ext cx="1037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User 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8741D01-1E2B-BA81-0E1D-03BB7B4F0110}"/>
                  </a:ext>
                </a:extLst>
              </p:cNvPr>
              <p:cNvSpPr txBox="1"/>
              <p:nvPr/>
            </p:nvSpPr>
            <p:spPr>
              <a:xfrm>
                <a:off x="917183" y="1372392"/>
                <a:ext cx="1672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1.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User</m:t>
                        </m:r>
                        <m: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group</m:t>
                        </m:r>
                        <m: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8741D01-1E2B-BA81-0E1D-03BB7B4F01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83" y="1372392"/>
                <a:ext cx="1672766" cy="276999"/>
              </a:xfrm>
              <a:prstGeom prst="rect">
                <a:avLst/>
              </a:prstGeom>
              <a:blipFill>
                <a:blip r:embed="rId6"/>
                <a:stretch>
                  <a:fillRect l="-8364" t="-26087" r="-364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523E070-AF04-B256-C49D-902F3B3E92CA}"/>
                  </a:ext>
                </a:extLst>
              </p:cNvPr>
              <p:cNvSpPr txBox="1"/>
              <p:nvPr/>
            </p:nvSpPr>
            <p:spPr>
              <a:xfrm>
                <a:off x="3305074" y="1781232"/>
                <a:ext cx="1070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C523E070-AF04-B256-C49D-902F3B3E92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074" y="1781232"/>
                <a:ext cx="1070037" cy="276999"/>
              </a:xfrm>
              <a:prstGeom prst="rect">
                <a:avLst/>
              </a:prstGeom>
              <a:blipFill>
                <a:blip r:embed="rId7"/>
                <a:stretch>
                  <a:fillRect l="-227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F3ACA9-24AD-28F5-9B7B-5A9B279117DD}"/>
                  </a:ext>
                </a:extLst>
              </p:cNvPr>
              <p:cNvSpPr txBox="1"/>
              <p:nvPr/>
            </p:nvSpPr>
            <p:spPr>
              <a:xfrm>
                <a:off x="917183" y="1769672"/>
                <a:ext cx="23348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2.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User</m:t>
                        </m:r>
                        <m: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group</m:t>
                        </m:r>
                        <m: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2, 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item</m:t>
                        </m:r>
                        <m: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0F3ACA9-24AD-28F5-9B7B-5A9B279117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83" y="1769672"/>
                <a:ext cx="2334806" cy="276999"/>
              </a:xfrm>
              <a:prstGeom prst="rect">
                <a:avLst/>
              </a:prstGeom>
              <a:blipFill>
                <a:blip r:embed="rId8"/>
                <a:stretch>
                  <a:fillRect l="-6005" t="-26087" b="-5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AA0683A-DA64-2D3F-2AF8-4F0AB9A6BF3F}"/>
                  </a:ext>
                </a:extLst>
              </p:cNvPr>
              <p:cNvSpPr txBox="1"/>
              <p:nvPr/>
            </p:nvSpPr>
            <p:spPr>
              <a:xfrm>
                <a:off x="3283032" y="2175965"/>
                <a:ext cx="1070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AA0683A-DA64-2D3F-2AF8-4F0AB9A6B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032" y="2175965"/>
                <a:ext cx="1070037" cy="276999"/>
              </a:xfrm>
              <a:prstGeom prst="rect">
                <a:avLst/>
              </a:prstGeom>
              <a:blipFill>
                <a:blip r:embed="rId9"/>
                <a:stretch>
                  <a:fillRect l="-285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DA0AC52-C83F-5807-0C72-9056EFB7FFC4}"/>
                  </a:ext>
                </a:extLst>
              </p:cNvPr>
              <p:cNvSpPr txBox="1"/>
              <p:nvPr/>
            </p:nvSpPr>
            <p:spPr>
              <a:xfrm>
                <a:off x="917183" y="2164405"/>
                <a:ext cx="100110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3.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Item</m:t>
                        </m:r>
                        <m: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DA0AC52-C83F-5807-0C72-9056EFB7FF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83" y="2164405"/>
                <a:ext cx="1001108" cy="276999"/>
              </a:xfrm>
              <a:prstGeom prst="rect">
                <a:avLst/>
              </a:prstGeom>
              <a:blipFill>
                <a:blip r:embed="rId10"/>
                <a:stretch>
                  <a:fillRect l="-13939" t="-26667" b="-5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FA68625-13B4-6F80-9B6B-181E39618295}"/>
                  </a:ext>
                </a:extLst>
              </p:cNvPr>
              <p:cNvSpPr txBox="1"/>
              <p:nvPr/>
            </p:nvSpPr>
            <p:spPr>
              <a:xfrm>
                <a:off x="3283032" y="2570698"/>
                <a:ext cx="107003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Item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CFA68625-13B4-6F80-9B6B-181E396182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032" y="2570698"/>
                <a:ext cx="1070037" cy="276999"/>
              </a:xfrm>
              <a:prstGeom prst="rect">
                <a:avLst/>
              </a:prstGeom>
              <a:blipFill>
                <a:blip r:embed="rId11"/>
                <a:stretch>
                  <a:fillRect l="-2857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1B57155-AFEF-99CD-1F9F-C0C9D17D349A}"/>
                  </a:ext>
                </a:extLst>
              </p:cNvPr>
              <p:cNvSpPr txBox="1"/>
              <p:nvPr/>
            </p:nvSpPr>
            <p:spPr>
              <a:xfrm>
                <a:off x="917183" y="2559138"/>
                <a:ext cx="167276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dirty="0"/>
                  <a:t>4.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User</m:t>
                        </m:r>
                        <m: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group</m:t>
                        </m:r>
                        <m:r>
                          <a:rPr lang="en-US" b="0" i="1" smtClean="0">
                            <a:highlight>
                              <a:srgbClr val="00FFFF"/>
                            </a:highlight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E1B57155-AFEF-99CD-1F9F-C0C9D17D34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183" y="2559138"/>
                <a:ext cx="1672766" cy="276999"/>
              </a:xfrm>
              <a:prstGeom prst="rect">
                <a:avLst/>
              </a:prstGeom>
              <a:blipFill>
                <a:blip r:embed="rId12"/>
                <a:stretch>
                  <a:fillRect l="-8364" t="-26667" r="-364" b="-5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TextBox 70">
            <a:extLst>
              <a:ext uri="{FF2B5EF4-FFF2-40B4-BE49-F238E27FC236}">
                <a16:creationId xmlns:a16="http://schemas.microsoft.com/office/drawing/2014/main" id="{AB92555B-56F2-9274-5CA9-49FCD90B4A3C}"/>
              </a:ext>
            </a:extLst>
          </p:cNvPr>
          <p:cNvSpPr txBox="1"/>
          <p:nvPr/>
        </p:nvSpPr>
        <p:spPr>
          <a:xfrm>
            <a:off x="5507473" y="2539157"/>
            <a:ext cx="32516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Confidence = 0.7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1E2E0E5-EA2B-3F6D-4A2F-777FB91E92D2}"/>
                  </a:ext>
                </a:extLst>
              </p:cNvPr>
              <p:cNvSpPr txBox="1"/>
              <p:nvPr/>
            </p:nvSpPr>
            <p:spPr>
              <a:xfrm>
                <a:off x="5843832" y="3539965"/>
                <a:ext cx="186671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Rule: 1, 2</a:t>
                </a:r>
              </a:p>
            </p:txBody>
          </p:sp>
        </mc:Choice>
        <mc:Fallback xmlns="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E1E2E0E5-EA2B-3F6D-4A2F-777FB91E92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832" y="3539965"/>
                <a:ext cx="1866710" cy="369332"/>
              </a:xfrm>
              <a:prstGeom prst="rect">
                <a:avLst/>
              </a:prstGeom>
              <a:blipFill>
                <a:blip r:embed="rId13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C9B222C-6D13-05BC-DC08-5CAC0CC6CAD9}"/>
                  </a:ext>
                </a:extLst>
              </p:cNvPr>
              <p:cNvSpPr txBox="1"/>
              <p:nvPr/>
            </p:nvSpPr>
            <p:spPr>
              <a:xfrm>
                <a:off x="5855534" y="3999453"/>
                <a:ext cx="128946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Rule: 4</a:t>
                </a:r>
              </a:p>
            </p:txBody>
          </p:sp>
        </mc:Choice>
        <mc:Fallback xmlns="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C9B222C-6D13-05BC-DC08-5CAC0CC6CA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534" y="3999453"/>
                <a:ext cx="1289463" cy="369332"/>
              </a:xfrm>
              <a:prstGeom prst="rect">
                <a:avLst/>
              </a:prstGeom>
              <a:blipFill>
                <a:blip r:embed="rId14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BE96E30-69E0-1D4F-8929-C6B87272BCF3}"/>
                  </a:ext>
                </a:extLst>
              </p:cNvPr>
              <p:cNvSpPr txBox="1"/>
              <p:nvPr/>
            </p:nvSpPr>
            <p:spPr>
              <a:xfrm>
                <a:off x="5855533" y="4445907"/>
                <a:ext cx="172092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Rule: 1,3, 4</a:t>
                </a:r>
              </a:p>
            </p:txBody>
          </p:sp>
        </mc:Choice>
        <mc:Fallback xmlns="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8BE96E30-69E0-1D4F-8929-C6B87272BC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5533" y="4445907"/>
                <a:ext cx="1720924" cy="369332"/>
              </a:xfrm>
              <a:prstGeom prst="rect">
                <a:avLst/>
              </a:prstGeom>
              <a:blipFill>
                <a:blip r:embed="rId15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7" name="TextBox 76">
            <a:extLst>
              <a:ext uri="{FF2B5EF4-FFF2-40B4-BE49-F238E27FC236}">
                <a16:creationId xmlns:a16="http://schemas.microsoft.com/office/drawing/2014/main" id="{5DFD5F8D-683B-96E3-3D2A-33EFA70D71E5}"/>
              </a:ext>
            </a:extLst>
          </p:cNvPr>
          <p:cNvSpPr txBox="1"/>
          <p:nvPr/>
        </p:nvSpPr>
        <p:spPr>
          <a:xfrm>
            <a:off x="580221" y="4982517"/>
            <a:ext cx="81788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6. Create an Item-Signal and a Group-of-Item-Signal Matrix for each user</a:t>
            </a:r>
            <a:endParaRPr lang="en-US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A65490B-9630-FC8E-847A-4D336008F9A8}"/>
                  </a:ext>
                </a:extLst>
              </p:cNvPr>
              <p:cNvSpPr txBox="1"/>
              <p:nvPr/>
            </p:nvSpPr>
            <p:spPr>
              <a:xfrm>
                <a:off x="958435" y="5474528"/>
                <a:ext cx="2139817" cy="737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0.6+0.7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4A65490B-9630-FC8E-847A-4D336008F9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35" y="5474528"/>
                <a:ext cx="2139817" cy="73718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A5EA52E-CA4F-7DD1-4E3D-E71A1217C572}"/>
                  </a:ext>
                </a:extLst>
              </p:cNvPr>
              <p:cNvSpPr txBox="1"/>
              <p:nvPr/>
            </p:nvSpPr>
            <p:spPr>
              <a:xfrm>
                <a:off x="3392860" y="5468950"/>
                <a:ext cx="1347933" cy="738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th-TH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BA5EA52E-CA4F-7DD1-4E3D-E71A1217C5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860" y="5468950"/>
                <a:ext cx="1347933" cy="738151"/>
              </a:xfrm>
              <a:prstGeom prst="rect">
                <a:avLst/>
              </a:prstGeom>
              <a:blipFill>
                <a:blip r:embed="rId17"/>
                <a:stretch>
                  <a:fillRect l="-10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" name="TextBox 80">
            <a:extLst>
              <a:ext uri="{FF2B5EF4-FFF2-40B4-BE49-F238E27FC236}">
                <a16:creationId xmlns:a16="http://schemas.microsoft.com/office/drawing/2014/main" id="{8CD12EF6-0FC8-147F-CDBD-FFBF2609B1B8}"/>
              </a:ext>
            </a:extLst>
          </p:cNvPr>
          <p:cNvSpPr txBox="1"/>
          <p:nvPr/>
        </p:nvSpPr>
        <p:spPr>
          <a:xfrm>
            <a:off x="5048372" y="5667376"/>
            <a:ext cx="307529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EE0000"/>
                </a:solidFill>
              </a:rPr>
              <a:t>If the number of signals is greater than one, they are summed together.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503A72-5CCB-4AAE-B382-FF76F768F3E7}"/>
              </a:ext>
            </a:extLst>
          </p:cNvPr>
          <p:cNvSpPr txBox="1"/>
          <p:nvPr/>
        </p:nvSpPr>
        <p:spPr>
          <a:xfrm>
            <a:off x="580222" y="787572"/>
            <a:ext cx="8178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4. Mine for rules from the "favorite transaction" set using the FP-growth algorithm</a:t>
            </a:r>
          </a:p>
        </p:txBody>
      </p:sp>
    </p:spTree>
    <p:extLst>
      <p:ext uri="{BB962C8B-B14F-4D97-AF65-F5344CB8AC3E}">
        <p14:creationId xmlns:p14="http://schemas.microsoft.com/office/powerpoint/2010/main" val="3211333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D0988-4EAB-F115-9A22-A4D53699A4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0DD25F-122B-CADF-C78F-B94078F86BC4}"/>
                  </a:ext>
                </a:extLst>
              </p:cNvPr>
              <p:cNvSpPr txBox="1"/>
              <p:nvPr/>
            </p:nvSpPr>
            <p:spPr>
              <a:xfrm>
                <a:off x="958435" y="1420321"/>
                <a:ext cx="2139817" cy="7371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0.6+0.7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0DD25F-122B-CADF-C78F-B94078F86B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35" y="1420321"/>
                <a:ext cx="2139817" cy="7371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FF6E93-FBB6-9CC7-6D1F-2E59C5D726FE}"/>
                  </a:ext>
                </a:extLst>
              </p:cNvPr>
              <p:cNvSpPr txBox="1"/>
              <p:nvPr/>
            </p:nvSpPr>
            <p:spPr>
              <a:xfrm>
                <a:off x="3392860" y="1414743"/>
                <a:ext cx="1347933" cy="7381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th-TH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FFF6E93-FBB6-9CC7-6D1F-2E59C5D72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2860" y="1414743"/>
                <a:ext cx="1347933" cy="738151"/>
              </a:xfrm>
              <a:prstGeom prst="rect">
                <a:avLst/>
              </a:prstGeom>
              <a:blipFill>
                <a:blip r:embed="rId3"/>
                <a:stretch>
                  <a:fillRect l="-10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B6ECE2-C7DA-CFB4-D3D1-68150E82AEE8}"/>
                  </a:ext>
                </a:extLst>
              </p:cNvPr>
              <p:cNvSpPr txBox="1"/>
              <p:nvPr/>
            </p:nvSpPr>
            <p:spPr>
              <a:xfrm>
                <a:off x="5616633" y="1424481"/>
                <a:ext cx="2135008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smtClean="0">
                          <a:latin typeface="Cambria Math" panose="02040503050406030204" pitchFamily="18" charset="0"/>
                        </a:rPr>
                        <m:t>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 b="0" i="1" smtClean="0">
                          <a:latin typeface="Cambria Math" panose="02040503050406030204" pitchFamily="18" charset="0"/>
                        </a:rPr>
                        <m:t>norm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0.23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0.46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FB6ECE2-C7DA-CFB4-D3D1-68150E82A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6633" y="1424481"/>
                <a:ext cx="2135008" cy="7325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190472-83DF-7262-EFE1-9C53D346974C}"/>
                  </a:ext>
                </a:extLst>
              </p:cNvPr>
              <p:cNvSpPr txBox="1"/>
              <p:nvPr/>
            </p:nvSpPr>
            <p:spPr>
              <a:xfrm>
                <a:off x="8051058" y="1418903"/>
                <a:ext cx="1795171" cy="7325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th-TH" b="0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norm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2190472-83DF-7262-EFE1-9C53D34697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1058" y="1418903"/>
                <a:ext cx="1795171" cy="732573"/>
              </a:xfrm>
              <a:prstGeom prst="rect">
                <a:avLst/>
              </a:prstGeom>
              <a:blipFill>
                <a:blip r:embed="rId5"/>
                <a:stretch>
                  <a:fillRect l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B8EFFB2-3F23-34A5-302D-B2F50F047206}"/>
              </a:ext>
            </a:extLst>
          </p:cNvPr>
          <p:cNvSpPr txBox="1"/>
          <p:nvPr/>
        </p:nvSpPr>
        <p:spPr>
          <a:xfrm>
            <a:off x="580222" y="2488309"/>
            <a:ext cx="636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8. Formulate a new loss function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F68599-ABCF-0936-491F-38F769E5AD57}"/>
                  </a:ext>
                </a:extLst>
              </p:cNvPr>
              <p:cNvSpPr txBox="1"/>
              <p:nvPr/>
            </p:nvSpPr>
            <p:spPr>
              <a:xfrm>
                <a:off x="958435" y="3018677"/>
                <a:ext cx="6830780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𝑢𝑖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−(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Sup>
                                    <m:sSub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  <m:sup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sSub>
                                    <m:sSubPr>
                                      <m:ctrlP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highlight>
                                            <a:srgbClr val="00FFFF"/>
                                          </a:highlight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𝑢𝑖</m:t>
                                      </m:r>
                                    </m:sub>
                                  </m:sSub>
                                  <m:r>
                                    <a:rPr lang="en-US" i="1">
                                      <a:highlight>
                                        <a:srgbClr val="00FFFF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𝜆</m:t>
                          </m:r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𝑅𝑒𝑔</m:t>
                              </m:r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nary>
                        </m:e>
                      </m:nary>
                    </m:oMath>
                  </m:oMathPara>
                </a14:m>
                <a:endParaRPr lang="en-US" i="1" dirty="0">
                  <a:highlight>
                    <a:srgbClr val="00FFFF"/>
                  </a:highlight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DF68599-ABCF-0936-491F-38F769E5AD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435" y="3018677"/>
                <a:ext cx="6830780" cy="6707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F53834A5-6F10-DF24-F970-AA8BFC2B6A42}"/>
              </a:ext>
            </a:extLst>
          </p:cNvPr>
          <p:cNvSpPr txBox="1"/>
          <p:nvPr/>
        </p:nvSpPr>
        <p:spPr>
          <a:xfrm>
            <a:off x="580222" y="3850474"/>
            <a:ext cx="636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9. Solve for all parameters using gradient descent.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B61CD3-2E9F-694B-30A2-3392B394A154}"/>
                  </a:ext>
                </a:extLst>
              </p:cNvPr>
              <p:cNvSpPr txBox="1"/>
              <p:nvPr/>
            </p:nvSpPr>
            <p:spPr>
              <a:xfrm>
                <a:off x="3660763" y="4360134"/>
                <a:ext cx="155959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←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5B61CD3-2E9F-694B-30A2-3392B394A1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763" y="4360134"/>
                <a:ext cx="1559593" cy="276999"/>
              </a:xfrm>
              <a:prstGeom prst="rect">
                <a:avLst/>
              </a:prstGeom>
              <a:blipFill>
                <a:blip r:embed="rId7"/>
                <a:stretch>
                  <a:fillRect l="-3922" t="-2174" r="-627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6CE4BA-B34C-24A4-E288-FDABD5DFD244}"/>
                  </a:ext>
                </a:extLst>
              </p:cNvPr>
              <p:cNvSpPr txBox="1"/>
              <p:nvPr/>
            </p:nvSpPr>
            <p:spPr>
              <a:xfrm>
                <a:off x="3611199" y="4676470"/>
                <a:ext cx="228434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B6CE4BA-B34C-24A4-E288-FDABD5DFD2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1199" y="4676470"/>
                <a:ext cx="2284343" cy="276999"/>
              </a:xfrm>
              <a:prstGeom prst="rect">
                <a:avLst/>
              </a:prstGeom>
              <a:blipFill>
                <a:blip r:embed="rId8"/>
                <a:stretch>
                  <a:fillRect t="-2174" r="-3200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04D7DF-E566-E044-3904-B75263F66227}"/>
                  </a:ext>
                </a:extLst>
              </p:cNvPr>
              <p:cNvSpPr txBox="1"/>
              <p:nvPr/>
            </p:nvSpPr>
            <p:spPr>
              <a:xfrm>
                <a:off x="3605450" y="4992494"/>
                <a:ext cx="240264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1704D7DF-E566-E044-3904-B75263F662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5450" y="4992494"/>
                <a:ext cx="2402645" cy="276999"/>
              </a:xfrm>
              <a:prstGeom prst="rect">
                <a:avLst/>
              </a:prstGeom>
              <a:blipFill>
                <a:blip r:embed="rId9"/>
                <a:stretch>
                  <a:fillRect l="-506" t="-2222" r="-3544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F39E78-3BE9-0F2D-9C69-249F3A6FD83A}"/>
                  </a:ext>
                </a:extLst>
              </p:cNvPr>
              <p:cNvSpPr txBox="1"/>
              <p:nvPr/>
            </p:nvSpPr>
            <p:spPr>
              <a:xfrm>
                <a:off x="702671" y="4360134"/>
                <a:ext cx="268406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FF39E78-3BE9-0F2D-9C69-249F3A6FD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671" y="4360134"/>
                <a:ext cx="2684068" cy="276999"/>
              </a:xfrm>
              <a:prstGeom prst="rect">
                <a:avLst/>
              </a:prstGeom>
              <a:blipFill>
                <a:blip r:embed="rId10"/>
                <a:stretch>
                  <a:fillRect l="-227" t="-2174" r="-2948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583FEB0-A664-8F2F-E122-EDCC32446878}"/>
                  </a:ext>
                </a:extLst>
              </p:cNvPr>
              <p:cNvSpPr txBox="1"/>
              <p:nvPr/>
            </p:nvSpPr>
            <p:spPr>
              <a:xfrm>
                <a:off x="733153" y="4699139"/>
                <a:ext cx="27731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583FEB0-A664-8F2F-E122-EDCC324468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153" y="4699139"/>
                <a:ext cx="2773195" cy="276999"/>
              </a:xfrm>
              <a:prstGeom prst="rect">
                <a:avLst/>
              </a:prstGeom>
              <a:blipFill>
                <a:blip r:embed="rId11"/>
                <a:stretch>
                  <a:fillRect l="-220" t="-2222" r="-3077" b="-3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94719BB-7C7A-3C97-76F6-72DE7E232376}"/>
                  </a:ext>
                </a:extLst>
              </p:cNvPr>
              <p:cNvSpPr txBox="1"/>
              <p:nvPr/>
            </p:nvSpPr>
            <p:spPr>
              <a:xfrm>
                <a:off x="6280410" y="4360446"/>
                <a:ext cx="291759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94719BB-7C7A-3C97-76F6-72DE7E2323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0410" y="4360446"/>
                <a:ext cx="2917594" cy="276999"/>
              </a:xfrm>
              <a:prstGeom prst="rect">
                <a:avLst/>
              </a:prstGeom>
              <a:blipFill>
                <a:blip r:embed="rId12"/>
                <a:stretch>
                  <a:fillRect l="-835" t="-2174" r="-2505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2F2DFFC-5CA3-AB48-2047-56B4419D01FC}"/>
                  </a:ext>
                </a:extLst>
              </p:cNvPr>
              <p:cNvSpPr txBox="1"/>
              <p:nvPr/>
            </p:nvSpPr>
            <p:spPr>
              <a:xfrm>
                <a:off x="6274661" y="4676470"/>
                <a:ext cx="285494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𝜂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𝜆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i="1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2F2DFFC-5CA3-AB48-2047-56B4419D01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4661" y="4676470"/>
                <a:ext cx="2854949" cy="276999"/>
              </a:xfrm>
              <a:prstGeom prst="rect">
                <a:avLst/>
              </a:prstGeom>
              <a:blipFill>
                <a:blip r:embed="rId13"/>
                <a:stretch>
                  <a:fillRect l="-1919" t="-2174" r="-1919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047CAC12-4410-62AE-A3D4-5F10948FF0CD}"/>
              </a:ext>
            </a:extLst>
          </p:cNvPr>
          <p:cNvSpPr txBox="1"/>
          <p:nvPr/>
        </p:nvSpPr>
        <p:spPr>
          <a:xfrm>
            <a:off x="580222" y="787572"/>
            <a:ext cx="81788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7. Normalize the signals to a range of [0,1] to prevent the gradient from exploding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0C9E51-9E41-E7B9-FC40-D785DF971A9A}"/>
              </a:ext>
            </a:extLst>
          </p:cNvPr>
          <p:cNvSpPr txBox="1"/>
          <p:nvPr/>
        </p:nvSpPr>
        <p:spPr>
          <a:xfrm>
            <a:off x="580222" y="5481071"/>
            <a:ext cx="6364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10. Predict the final prediction.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29C272-8107-FD4A-7445-9EFF3108F3B1}"/>
                  </a:ext>
                </a:extLst>
              </p:cNvPr>
              <p:cNvSpPr txBox="1"/>
              <p:nvPr/>
            </p:nvSpPr>
            <p:spPr>
              <a:xfrm>
                <a:off x="887853" y="5907673"/>
                <a:ext cx="454182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Sup>
                        <m:sSub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00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00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b="0" i="1" smtClean="0">
                          <a:highlight>
                            <a:srgbClr val="00FFFF"/>
                          </a:highlight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b="0" i="1" smtClean="0">
                              <a:highlight>
                                <a:srgbClr val="00FFFF"/>
                              </a:highlight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𝑢𝑖</m:t>
                          </m:r>
                        </m:sub>
                      </m:sSub>
                    </m:oMath>
                  </m:oMathPara>
                </a14:m>
                <a:endParaRPr lang="en-US" i="1" dirty="0">
                  <a:highlight>
                    <a:srgbClr val="00FFFF"/>
                  </a:highlight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29C272-8107-FD4A-7445-9EFF3108F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853" y="5907673"/>
                <a:ext cx="4541820" cy="276999"/>
              </a:xfrm>
              <a:prstGeom prst="rect">
                <a:avLst/>
              </a:prstGeom>
              <a:blipFill>
                <a:blip r:embed="rId14"/>
                <a:stretch>
                  <a:fillRect l="-403" t="-23913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6830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E4B46126-E199-DBD6-E296-DFE23FBE3CA0}"/>
              </a:ext>
            </a:extLst>
          </p:cNvPr>
          <p:cNvSpPr txBox="1"/>
          <p:nvPr/>
        </p:nvSpPr>
        <p:spPr>
          <a:xfrm>
            <a:off x="574003" y="845453"/>
            <a:ext cx="11043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Movielen</a:t>
            </a:r>
            <a:r>
              <a:rPr lang="en-US" sz="2000" dirty="0"/>
              <a:t>-small: Epochs=100, Learning rate=0.001, lambda=0.001,K=50,batch_size=512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7CC8AB0-6480-A640-7C29-2567548425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9424" y="2139872"/>
            <a:ext cx="9773152" cy="1390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AF0D04-EBC7-F5A2-B722-4C0CF90006A6}"/>
              </a:ext>
            </a:extLst>
          </p:cNvPr>
          <p:cNvSpPr txBox="1"/>
          <p:nvPr/>
        </p:nvSpPr>
        <p:spPr>
          <a:xfrm>
            <a:off x="574003" y="1292607"/>
            <a:ext cx="11043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Solver: ADAM</a:t>
            </a:r>
          </a:p>
        </p:txBody>
      </p:sp>
    </p:spTree>
    <p:extLst>
      <p:ext uri="{BB962C8B-B14F-4D97-AF65-F5344CB8AC3E}">
        <p14:creationId xmlns:p14="http://schemas.microsoft.com/office/powerpoint/2010/main" val="122593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478</Words>
  <Application>Microsoft Office PowerPoint</Application>
  <PresentationFormat>Widescreen</PresentationFormat>
  <Paragraphs>75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peerapat tancharoen</dc:creator>
  <cp:lastModifiedBy>peerapat tancharoen</cp:lastModifiedBy>
  <cp:revision>12</cp:revision>
  <dcterms:created xsi:type="dcterms:W3CDTF">2025-10-12T15:15:31Z</dcterms:created>
  <dcterms:modified xsi:type="dcterms:W3CDTF">2025-10-12T21:47:43Z</dcterms:modified>
</cp:coreProperties>
</file>